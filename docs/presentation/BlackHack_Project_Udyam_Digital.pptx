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Leads reaching this stage</c:v>
                </c:pt>
              </c:strCache>
            </c:strRef>
          </c:tx>
          <c:spPr>
            <a:solidFill>
              <a:srgbClr val="BFBFBF"/>
            </a:solidFill>
          </c:spPr>
          <c:dPt>
            <c:idx val="3"/>
            <c:spPr>
              <a:solidFill>
                <a:srgbClr val="E40000"/>
              </a:solidFill>
            </c:spPr>
          </c:dPt>
          <c:cat>
            <c:strRef>
              <c:f>Sheet1!$A$2:$A$7</c:f>
              <c:strCache>
                <c:ptCount val="6"/>
                <c:pt idx="0">
                  <c:v>Leads</c:v>
                </c:pt>
                <c:pt idx="1">
                  <c:v>Contacted</c:v>
                </c:pt>
                <c:pt idx="2">
                  <c:v>Needs assessed</c:v>
                </c:pt>
                <c:pt idx="3">
                  <c:v>Quote accepted</c:v>
                </c:pt>
                <c:pt idx="4">
                  <c:v>KYC complete</c:v>
                </c:pt>
                <c:pt idx="5">
                  <c:v>Activated</c:v>
                </c:pt>
              </c:strCache>
            </c:strRef>
          </c:cat>
          <c:val>
            <c:numRef>
              <c:f>Sheet1!$B$2:$B$7</c:f>
              <c:numCache>
                <c:formatCode>General</c:formatCode>
                <c:ptCount val="6"/>
                <c:pt idx="0">
                  <c:v>5000</c:v>
                </c:pt>
                <c:pt idx="1">
                  <c:v>3406</c:v>
                </c:pt>
                <c:pt idx="2">
                  <c:v>1974</c:v>
                </c:pt>
                <c:pt idx="3">
                  <c:v>861</c:v>
                </c:pt>
                <c:pt idx="4">
                  <c:v>588</c:v>
                </c:pt>
                <c:pt idx="5">
                  <c:v>368</c:v>
                </c:pt>
              </c:numCache>
            </c:numRef>
          </c:val>
        </c:ser>
        <c:dLbls>
          <c:numFmt formatCode="#,##0" sourceLinked="0"/>
          <c:txPr>
            <a:bodyPr/>
            <a:lstStyle/>
            <a:p>
              <a:pPr>
                <a:defRPr sz="1000" b="1"/>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1000"/>
            </a:pPr>
          </a:p>
        </c:txPr>
        <c:crossAx val="-2113994440"/>
        <c:crosses val="autoZero"/>
        <c:auto val="1"/>
        <c:lblAlgn val="ctr"/>
        <c:lblOffset val="100"/>
        <c:noMultiLvlLbl val="0"/>
      </c:catAx>
      <c:valAx>
        <c:axId val="-2113994440"/>
        <c:scaling>
          <c:max val="5900.0"/>
        </c:scaling>
        <c:delete/>
        <c:axPos val="b"/>
        <c:majorTickMark val="out"/>
        <c:minorTickMark val="none"/>
        <c:tickLblPos val="nextTo"/>
        <c:crossAx val="-2068027336"/>
        <c:crosses val="autoZero"/>
      </c:valAx>
    </c:plotArea>
    <c:dispBlanksAs val="gap"/>
  </c:chart>
  <c:txPr>
    <a:bodyPr/>
    <a:lstStyle/>
    <a:p>
      <a:pPr>
        <a:defRPr sz="1000">
          <a:solidFill>
            <a:srgbClr val="1F1F1F"/>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 are team BlackHack from NIT Jamshedpur. Project Udyam Digital is a working prototype for Accel Business, the B2B arm of the fictional operator Accel Telecom. A small business owner talks to an AI advisor, sees one clear monthly price, finishes KYC by photo and tracks the order, without a sales visit. All data is synthetic. Next: the numbers behind the problem, what we built, what is proven and what is not.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From 5,000 leads in April to June 2026, only 368 activated. The steepest step is from needs assessed to quote accepted, where only 44% continue. Those who activate wait 17.6 days on average and call 3 times to chase status. Each activation costs ₹15,053. Process problems such as missed visits, slow or complex quotes and paperwork lost 1,291 leads, about twice the 621 lost on price. Source: smb_leads.csv.</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analysed all 5,000 leads. Field visits to Micro cost ₹53,026 per activation against a bundle of ₹2,505 a month, a 20.3-month payback. 48 of 368 sold bundles broke catalogue rules, and 18 activations used a cancelled GSTIN. Customers activated in 11 to 15 days give NPS 7.3; at 26 days or more, 5.8. Churn is 6% with 0 to 1 status calls (34 customers, a small group) and 23% with 4 to 5. After KYC, tier 2 activates 51.8% against 72.7% in tier 1. We only partly address that: install capacity is outside this prototype.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Professional offices come first: the most activations, 138, and a 1.6-month payback. Micro has the most leads but an 8.0-month payback and 22.7% churn, so it is digital only. Multi-site and manufacturers pay back fastest but need site work and carry bigger setup, so they follow with sales help. Bundles are live quotes from our rules engine, at the catalogue's lowest price, with no discounts or taxes. Honest point: except for manufacturers, these bundles cost more than today's median telecom spend, because they include more services. Price sensitivity needs testing in the pilot.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real screens from the prototype, captured on 31 October on real Gemini. The advisor needs business type, city, staff and sites, and asks about GST. Current tools are saved if mentioned, but it doesn't ask yet. It answered correctly in English and Hindi here. The quote shows one price: switching on Cloud POS moves ₹1,597 to ₹2,196. KYC found the old address proof and said what to upload. The tracker gives a date per service and install slots. Not built: voice, WhatsApp and regional-language screens.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AI service holds the Gemini key and runs the chat, but every product, quantity and price comes from our Spring rules engine. A guard checks every rupee amount and product in each reply; if one doesn't match, it retries once and then uses a template. Proof: 789 automated tests pass. KYC verdicts match the answer key 12 of 12, on hand-transcribed fields. On real Gemini, K03 and K11 gave the expected verdicts. Advisor evals: 3 of 15 have run live and passed; the other 12 have not run. New API keys need newer Gemini models, which was a settings change only.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owner consents first, then uploads four photos. Blurry photos are refused before any AI call. Gemini reads the fields, and 17 checks compare them with each other and with mocked GST and Udyam registries. The result is verified, one specific fix, or rejected. We say designed to align with the DPDP Act 2023, not certified compliant. Not built: DigiLocker and e-sign. Known gaps: no automatic deletion job yet, the notice doesn't yet name Google Gemini, and chat text is sent to Gemini after only a line in the greeting.</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Field and partner sales stay, but on the right leads. The back-office scores unclosed leads and suggests who follows up, with the reason. Micro never gets a field visit. The score has an AUC of 0.699 on cross-validation, and the top 20% of leads hold 37.5% of activations. It ranks likely buyers; it doesn't prove a call causes a sale. Two honest points: no phone number is collected yet, so staff can't reach leads from here. And partners on multi-site cost ₹42,149 per activation against ₹15,921 for field, so partner-first routing needs review.</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Baselines come from the data; targets are proposals not yet tested with real customers. Conversion: if we win back half the 1,291 process-lost leads, an assumption, each stage's normal rate gives about 184 more activations, 552 or 11%. Cost: removing ₹14.3 lakh of Micro field spend over 525 activations gives about ₹7,825 before AI and support costs, so we target under ₹10,000. Time: quote and KYC in one sitting, fibre install 5 days. Calls and churn: the tracker, and no rule-breaking sales.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Today this is a prototype running locally. Before any pilot we must finish the 12 advisor scenarios and all 12 KYC applicants on real Gemini, fix the consent wording, collect a phone number and add proper staff login. The pilot covers professional offices and Micro in tier 1 cities, in English and Hindi. Durations are our proposal. We scale only if the targets hold. The biggest risks are wrong AI readings, data going to an outside AI service, and tier 2 installation, where 51.8% activate after KYC.</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3.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6.xml"/><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9.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Submission-Front-2 (1).jpg"/>
          <p:cNvPicPr preferRelativeResize="0"/>
          <p:nvPr/>
        </p:nvPicPr>
        <p:blipFill>
          <a:blip r:embed="rId3">
            <a:alphaModFix/>
          </a:blip>
          <a:stretch>
            <a:fillRect/>
          </a:stretch>
        </p:blipFill>
        <p:spPr>
          <a:xfrm>
            <a:off x="0" y="0"/>
            <a:ext cx="9144000" cy="5143495"/>
          </a:xfrm>
          <a:prstGeom prst="rect">
            <a:avLst/>
          </a:prstGeom>
          <a:noFill/>
          <a:ln>
            <a:noFill/>
          </a:ln>
        </p:spPr>
      </p:pic>
      <p:sp>
        <p:nvSpPr>
          <p:cNvPr id="55" name="Project name"/>
          <p:cNvSpPr txBox="1"/>
          <p:nvPr/>
        </p:nvSpPr>
        <p:spPr>
          <a:xfrm>
            <a:off x="384048" y="2487168"/>
            <a:ext cx="3566160" cy="384048"/>
          </a:xfrm>
          <a:prstGeom prst="rect">
            <a:avLst/>
          </a:prstGeom>
          <a:noFill/>
        </p:spPr>
        <p:txBody>
          <a:bodyPr wrap="square" anchor="t" lIns="0" rIns="0" tIns="0" bIns="0">
            <a:spAutoFit/>
          </a:bodyPr>
          <a:lstStyle/>
          <a:p>
            <a:pPr>
              <a:spcAft>
                <a:spcPts val="300"/>
              </a:spcAft>
            </a:pPr>
            <a:r>
              <a:rPr sz="2200" b="1" i="0">
                <a:solidFill>
                  <a:srgbClr val="FFFFFF"/>
                </a:solidFill>
              </a:rPr>
              <a:t>Project Udyam Digital</a:t>
            </a:r>
          </a:p>
        </p:txBody>
      </p:sp>
      <p:sp>
        <p:nvSpPr>
          <p:cNvPr id="56" name="One-line pitch"/>
          <p:cNvSpPr txBox="1"/>
          <p:nvPr/>
        </p:nvSpPr>
        <p:spPr>
          <a:xfrm>
            <a:off x="384048" y="2898648"/>
            <a:ext cx="3383280" cy="457200"/>
          </a:xfrm>
          <a:prstGeom prst="rect">
            <a:avLst/>
          </a:prstGeom>
          <a:noFill/>
        </p:spPr>
        <p:txBody>
          <a:bodyPr wrap="square" anchor="t" lIns="0" rIns="0" tIns="0" bIns="0">
            <a:spAutoFit/>
          </a:bodyPr>
          <a:lstStyle/>
          <a:p>
            <a:pPr>
              <a:spcAft>
                <a:spcPts val="300"/>
              </a:spcAft>
            </a:pPr>
            <a:r>
              <a:rPr sz="1100" b="0" i="0">
                <a:solidFill>
                  <a:srgbClr val="FFFFFF"/>
                </a:solidFill>
              </a:rPr>
              <a:t>A small business finds its bundle, buys it and tracks it on a phone, in English or Hindi.</a:t>
            </a:r>
          </a:p>
        </p:txBody>
      </p:sp>
      <p:sp>
        <p:nvSpPr>
          <p:cNvPr id="57" name="Team"/>
          <p:cNvSpPr txBox="1"/>
          <p:nvPr/>
        </p:nvSpPr>
        <p:spPr>
          <a:xfrm>
            <a:off x="384048" y="3493008"/>
            <a:ext cx="3566160" cy="822960"/>
          </a:xfrm>
          <a:prstGeom prst="rect">
            <a:avLst/>
          </a:prstGeom>
          <a:noFill/>
        </p:spPr>
        <p:txBody>
          <a:bodyPr wrap="square" anchor="t" lIns="0" rIns="0" tIns="0" bIns="0">
            <a:spAutoFit/>
          </a:bodyPr>
          <a:lstStyle/>
          <a:p>
            <a:pPr>
              <a:spcAft>
                <a:spcPts val="200"/>
              </a:spcAft>
            </a:pPr>
            <a:r>
              <a:rPr sz="1300" b="1" i="0">
                <a:solidFill>
                  <a:srgbClr val="FFFFFF"/>
                </a:solidFill>
              </a:rPr>
              <a:t>Team BlackHack</a:t>
            </a:r>
          </a:p>
          <a:p>
            <a:pPr>
              <a:spcAft>
                <a:spcPts val="200"/>
              </a:spcAft>
            </a:pPr>
            <a:r>
              <a:rPr sz="1100" b="0" i="0">
                <a:solidFill>
                  <a:srgbClr val="FFFFFF"/>
                </a:solidFill>
              </a:rPr>
              <a:t>Ayush Sahu  |  Chandrakant Gorain</a:t>
            </a:r>
          </a:p>
          <a:p>
            <a:pPr>
              <a:spcAft>
                <a:spcPts val="200"/>
              </a:spcAft>
            </a:pPr>
            <a:r>
              <a:rPr sz="1100" b="0" i="0">
                <a:solidFill>
                  <a:srgbClr val="FFFFFF"/>
                </a:solidFill>
              </a:rPr>
              <a:t>NIT Jamshedpur</a:t>
            </a:r>
          </a:p>
        </p:txBody>
      </p:sp>
      <p:sp>
        <p:nvSpPr>
          <p:cNvPr id="58" name="Event"/>
          <p:cNvSpPr txBox="1"/>
          <p:nvPr/>
        </p:nvSpPr>
        <p:spPr>
          <a:xfrm>
            <a:off x="384048" y="4334256"/>
            <a:ext cx="3566160" cy="274320"/>
          </a:xfrm>
          <a:prstGeom prst="rect">
            <a:avLst/>
          </a:prstGeom>
          <a:noFill/>
        </p:spPr>
        <p:txBody>
          <a:bodyPr wrap="square" anchor="t" lIns="0" rIns="0" tIns="0" bIns="0">
            <a:spAutoFit/>
          </a:bodyPr>
          <a:lstStyle/>
          <a:p>
            <a:pPr>
              <a:spcAft>
                <a:spcPts val="300"/>
              </a:spcAft>
            </a:pPr>
            <a:r>
              <a:rPr sz="950" b="0" i="0">
                <a:solidFill>
                  <a:srgbClr val="FFFFFF"/>
                </a:solidFill>
              </a:rPr>
              <a:t>Accel YTL Hackathon 2026 | Enterprise Track 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Only 7.4% of small-business leads activate, and the quote is the weakest step</a:t>
            </a:r>
          </a:p>
        </p:txBody>
      </p:sp>
      <p:graphicFrame>
        <p:nvGraphicFramePr>
          <p:cNvPr id="4" name="Funnel chart"/>
          <p:cNvGraphicFramePr>
            <a:graphicFrameLocks noGrp="1"/>
          </p:cNvGraphicFramePr>
          <p:nvPr/>
        </p:nvGraphicFramePr>
        <p:xfrm>
          <a:off x="365760" y="1207008"/>
          <a:ext cx="4846320" cy="3017520"/>
        </p:xfrm>
        <a:graphic>
          <a:graphicData uri="http://schemas.openxmlformats.org/drawingml/2006/chart">
            <c:chart xmlns:c="http://schemas.openxmlformats.org/drawingml/2006/chart" r:id="rId4"/>
          </a:graphicData>
        </a:graphic>
      </p:graphicFrame>
      <p:sp>
        <p:nvSpPr>
          <p:cNvPr id="5" name="Chart title"/>
          <p:cNvSpPr txBox="1"/>
          <p:nvPr/>
        </p:nvSpPr>
        <p:spPr>
          <a:xfrm>
            <a:off x="365760" y="1024128"/>
            <a:ext cx="4846320" cy="219456"/>
          </a:xfrm>
          <a:prstGeom prst="rect">
            <a:avLst/>
          </a:prstGeom>
          <a:noFill/>
        </p:spPr>
        <p:txBody>
          <a:bodyPr wrap="square" anchor="t" lIns="0" rIns="0" tIns="0" bIns="0">
            <a:spAutoFit/>
          </a:bodyPr>
          <a:lstStyle/>
          <a:p>
            <a:pPr>
              <a:spcAft>
                <a:spcPts val="300"/>
              </a:spcAft>
            </a:pPr>
            <a:r>
              <a:rPr sz="1000" b="1" i="0">
                <a:solidFill>
                  <a:srgbClr val="595959"/>
                </a:solidFill>
              </a:rPr>
              <a:t>Leads reaching each stage, April to June 2026</a:t>
            </a:r>
          </a:p>
        </p:txBody>
      </p:sp>
      <p:sp>
        <p:nvSpPr>
          <p:cNvPr id="6" name="Chart takeaway"/>
          <p:cNvSpPr txBox="1"/>
          <p:nvPr/>
        </p:nvSpPr>
        <p:spPr>
          <a:xfrm>
            <a:off x="365760" y="4224528"/>
            <a:ext cx="4846320" cy="365760"/>
          </a:xfrm>
          <a:prstGeom prst="rect">
            <a:avLst/>
          </a:prstGeom>
          <a:noFill/>
        </p:spPr>
        <p:txBody>
          <a:bodyPr wrap="square" anchor="t" lIns="0" rIns="0" tIns="0" bIns="0">
            <a:spAutoFit/>
          </a:bodyPr>
          <a:lstStyle/>
          <a:p>
            <a:pPr>
              <a:spcAft>
                <a:spcPts val="300"/>
              </a:spcAft>
            </a:pPr>
            <a:r>
              <a:rPr sz="1050" b="1" i="0">
                <a:solidFill>
                  <a:srgbClr val="E40000"/>
                </a:solidFill>
              </a:rPr>
              <a:t>Only 44% of assessed leads accept a quote</a:t>
            </a:r>
            <a:r>
              <a:rPr sz="1050" b="0" i="0">
                <a:solidFill>
                  <a:srgbClr val="1F1F1F"/>
                </a:solidFill>
              </a:rPr>
              <a:t>, the lowest step in the funnel.</a:t>
            </a:r>
          </a:p>
        </p:txBody>
      </p:sp>
      <p:sp>
        <p:nvSpPr>
          <p:cNvPr id="7" name="Stat card 1"/>
          <p:cNvSpPr/>
          <p:nvPr/>
        </p:nvSpPr>
        <p:spPr>
          <a:xfrm>
            <a:off x="5486400" y="1042415"/>
            <a:ext cx="3291840" cy="694944"/>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tat 1"/>
          <p:cNvSpPr txBox="1"/>
          <p:nvPr/>
        </p:nvSpPr>
        <p:spPr>
          <a:xfrm>
            <a:off x="5614416" y="1106424"/>
            <a:ext cx="1481328" cy="566928"/>
          </a:xfrm>
          <a:prstGeom prst="rect">
            <a:avLst/>
          </a:prstGeom>
          <a:noFill/>
        </p:spPr>
        <p:txBody>
          <a:bodyPr wrap="square" anchor="ctr" lIns="0" rIns="0" tIns="0" bIns="0">
            <a:spAutoFit/>
          </a:bodyPr>
          <a:lstStyle/>
          <a:p>
            <a:pPr>
              <a:spcAft>
                <a:spcPts val="300"/>
              </a:spcAft>
            </a:pPr>
            <a:r>
              <a:rPr sz="1800" b="1" i="0">
                <a:solidFill>
                  <a:srgbClr val="E40000"/>
                </a:solidFill>
              </a:rPr>
              <a:t>17.6 days</a:t>
            </a:r>
          </a:p>
        </p:txBody>
      </p:sp>
      <p:sp>
        <p:nvSpPr>
          <p:cNvPr id="9" name="Stat label 1"/>
          <p:cNvSpPr txBox="1"/>
          <p:nvPr/>
        </p:nvSpPr>
        <p:spPr>
          <a:xfrm>
            <a:off x="7059168" y="1106424"/>
            <a:ext cx="1664208" cy="566928"/>
          </a:xfrm>
          <a:prstGeom prst="rect">
            <a:avLst/>
          </a:prstGeom>
          <a:noFill/>
        </p:spPr>
        <p:txBody>
          <a:bodyPr wrap="square" anchor="ctr" lIns="0" rIns="0" tIns="0" bIns="0">
            <a:spAutoFit/>
          </a:bodyPr>
          <a:lstStyle/>
          <a:p>
            <a:pPr>
              <a:spcAft>
                <a:spcPts val="300"/>
              </a:spcAft>
            </a:pPr>
            <a:r>
              <a:rPr sz="1050" b="0" i="0">
                <a:solidFill>
                  <a:srgbClr val="1F1F1F"/>
                </a:solidFill>
              </a:rPr>
              <a:t>from lead to activation</a:t>
            </a:r>
          </a:p>
        </p:txBody>
      </p:sp>
      <p:sp>
        <p:nvSpPr>
          <p:cNvPr id="10" name="Stat card 2"/>
          <p:cNvSpPr/>
          <p:nvPr/>
        </p:nvSpPr>
        <p:spPr>
          <a:xfrm>
            <a:off x="5486400" y="1828800"/>
            <a:ext cx="3291840" cy="694944"/>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 2"/>
          <p:cNvSpPr txBox="1"/>
          <p:nvPr/>
        </p:nvSpPr>
        <p:spPr>
          <a:xfrm>
            <a:off x="5614416" y="1892807"/>
            <a:ext cx="1481328" cy="566928"/>
          </a:xfrm>
          <a:prstGeom prst="rect">
            <a:avLst/>
          </a:prstGeom>
          <a:noFill/>
        </p:spPr>
        <p:txBody>
          <a:bodyPr wrap="square" anchor="ctr" lIns="0" rIns="0" tIns="0" bIns="0">
            <a:spAutoFit/>
          </a:bodyPr>
          <a:lstStyle/>
          <a:p>
            <a:pPr>
              <a:spcAft>
                <a:spcPts val="300"/>
              </a:spcAft>
            </a:pPr>
            <a:r>
              <a:rPr sz="1800" b="1" i="0">
                <a:solidFill>
                  <a:srgbClr val="E40000"/>
                </a:solidFill>
              </a:rPr>
              <a:t>3 calls</a:t>
            </a:r>
          </a:p>
        </p:txBody>
      </p:sp>
      <p:sp>
        <p:nvSpPr>
          <p:cNvPr id="12" name="Stat label 2"/>
          <p:cNvSpPr txBox="1"/>
          <p:nvPr/>
        </p:nvSpPr>
        <p:spPr>
          <a:xfrm>
            <a:off x="7059168" y="1892807"/>
            <a:ext cx="1664208" cy="566928"/>
          </a:xfrm>
          <a:prstGeom prst="rect">
            <a:avLst/>
          </a:prstGeom>
          <a:noFill/>
        </p:spPr>
        <p:txBody>
          <a:bodyPr wrap="square" anchor="ctr" lIns="0" rIns="0" tIns="0" bIns="0">
            <a:spAutoFit/>
          </a:bodyPr>
          <a:lstStyle/>
          <a:p>
            <a:pPr>
              <a:spcAft>
                <a:spcPts val="300"/>
              </a:spcAft>
            </a:pPr>
            <a:r>
              <a:rPr sz="1050" b="0" i="0">
                <a:solidFill>
                  <a:srgbClr val="1F1F1F"/>
                </a:solidFill>
              </a:rPr>
              <a:t>by each customer to chase status</a:t>
            </a:r>
          </a:p>
        </p:txBody>
      </p:sp>
      <p:sp>
        <p:nvSpPr>
          <p:cNvPr id="13" name="Stat card 3"/>
          <p:cNvSpPr/>
          <p:nvPr/>
        </p:nvSpPr>
        <p:spPr>
          <a:xfrm>
            <a:off x="5486400" y="2615184"/>
            <a:ext cx="3291840" cy="694944"/>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at 3"/>
          <p:cNvSpPr txBox="1"/>
          <p:nvPr/>
        </p:nvSpPr>
        <p:spPr>
          <a:xfrm>
            <a:off x="5614416" y="2679191"/>
            <a:ext cx="1481328" cy="566928"/>
          </a:xfrm>
          <a:prstGeom prst="rect">
            <a:avLst/>
          </a:prstGeom>
          <a:noFill/>
        </p:spPr>
        <p:txBody>
          <a:bodyPr wrap="square" anchor="ctr" lIns="0" rIns="0" tIns="0" bIns="0">
            <a:spAutoFit/>
          </a:bodyPr>
          <a:lstStyle/>
          <a:p>
            <a:pPr>
              <a:spcAft>
                <a:spcPts val="300"/>
              </a:spcAft>
            </a:pPr>
            <a:r>
              <a:rPr sz="1800" b="1" i="0">
                <a:solidFill>
                  <a:srgbClr val="E40000"/>
                </a:solidFill>
              </a:rPr>
              <a:t>₹15,053</a:t>
            </a:r>
          </a:p>
        </p:txBody>
      </p:sp>
      <p:sp>
        <p:nvSpPr>
          <p:cNvPr id="15" name="Stat label 3"/>
          <p:cNvSpPr txBox="1"/>
          <p:nvPr/>
        </p:nvSpPr>
        <p:spPr>
          <a:xfrm>
            <a:off x="7059168" y="2679191"/>
            <a:ext cx="1664208" cy="566928"/>
          </a:xfrm>
          <a:prstGeom prst="rect">
            <a:avLst/>
          </a:prstGeom>
          <a:noFill/>
        </p:spPr>
        <p:txBody>
          <a:bodyPr wrap="square" anchor="ctr" lIns="0" rIns="0" tIns="0" bIns="0">
            <a:spAutoFit/>
          </a:bodyPr>
          <a:lstStyle/>
          <a:p>
            <a:pPr>
              <a:spcAft>
                <a:spcPts val="300"/>
              </a:spcAft>
            </a:pPr>
            <a:r>
              <a:rPr sz="1050" b="0" i="0">
                <a:solidFill>
                  <a:srgbClr val="1F1F1F"/>
                </a:solidFill>
              </a:rPr>
              <a:t>cost per activation</a:t>
            </a:r>
          </a:p>
        </p:txBody>
      </p:sp>
      <p:sp>
        <p:nvSpPr>
          <p:cNvPr id="16" name="Process vs price card"/>
          <p:cNvSpPr/>
          <p:nvPr/>
        </p:nvSpPr>
        <p:spPr>
          <a:xfrm>
            <a:off x="5486400" y="3401568"/>
            <a:ext cx="3291840" cy="1024128"/>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ocess vs price"/>
          <p:cNvSpPr txBox="1"/>
          <p:nvPr/>
        </p:nvSpPr>
        <p:spPr>
          <a:xfrm>
            <a:off x="5614416" y="3456432"/>
            <a:ext cx="3054096" cy="914400"/>
          </a:xfrm>
          <a:prstGeom prst="rect">
            <a:avLst/>
          </a:prstGeom>
          <a:noFill/>
        </p:spPr>
        <p:txBody>
          <a:bodyPr wrap="square" anchor="ctr" lIns="0" rIns="0" tIns="0" bIns="0">
            <a:spAutoFit/>
          </a:bodyPr>
          <a:lstStyle/>
          <a:p>
            <a:pPr>
              <a:spcAft>
                <a:spcPts val="100"/>
              </a:spcAft>
            </a:pPr>
            <a:r>
              <a:rPr sz="1800" b="1" i="0">
                <a:solidFill>
                  <a:srgbClr val="E40000"/>
                </a:solidFill>
              </a:rPr>
              <a:t>1,291 vs 621</a:t>
            </a:r>
          </a:p>
          <a:p>
            <a:pPr>
              <a:spcAft>
                <a:spcPts val="100"/>
              </a:spcAft>
            </a:pPr>
            <a:r>
              <a:rPr sz="1050" b="0" i="0">
                <a:solidFill>
                  <a:srgbClr val="1F1F1F"/>
                </a:solidFill>
              </a:rPr>
              <a:t>leads lost to how we sell (visits, slow quotes, paperwork) vs lost on price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The leads data told us what to build</a:t>
            </a:r>
          </a:p>
        </p:txBody>
      </p:sp>
      <p:graphicFrame>
        <p:nvGraphicFramePr>
          <p:cNvPr id="4" name="Signals table"/>
          <p:cNvGraphicFramePr>
            <a:graphicFrameLocks noGrp="1"/>
          </p:cNvGraphicFramePr>
          <p:nvPr/>
        </p:nvGraphicFramePr>
        <p:xfrm>
          <a:off x="365760" y="1060704"/>
          <a:ext cx="8412480" cy="3401562"/>
        </p:xfrm>
        <a:graphic>
          <a:graphicData uri="http://schemas.openxmlformats.org/drawingml/2006/table">
            <a:tbl>
              <a:tblPr firstRow="1" bandRow="0">
                <a:tableStyleId>{2D5ABB26-0587-4C30-8999-92F81FD0307C}</a:tableStyleId>
              </a:tblPr>
              <a:tblGrid>
                <a:gridCol w="2514600"/>
                <a:gridCol w="2880360"/>
                <a:gridCol w="3017520"/>
              </a:tblGrid>
              <a:tr h="274320">
                <a:tc>
                  <a:txBody>
                    <a:bodyPr/>
                    <a:lstStyle/>
                    <a:p>
                      <a:r>
                        <a:rPr sz="1000" b="1" i="0">
                          <a:solidFill>
                            <a:srgbClr val="FFFFFF"/>
                          </a:solidFill>
                        </a:rPr>
                        <a:t>What the data shows</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1000" b="1" i="0">
                          <a:solidFill>
                            <a:srgbClr val="FFFFFF"/>
                          </a:solidFill>
                        </a:rPr>
                        <a:t>Number</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1000" b="1" i="0">
                          <a:solidFill>
                            <a:srgbClr val="FFFFFF"/>
                          </a:solidFill>
                        </a:rPr>
                        <a:t>What we built</a:t>
                      </a:r>
                    </a:p>
                  </a:txBody>
                  <a:tcPr marL="54864" marR="54864" marT="22860" marB="22860" anchor="ctr">
                    <a:lnL w="0">
                      <a:noFill/>
                    </a:lnL>
                    <a:lnR w="0">
                      <a:noFill/>
                    </a:lnR>
                    <a:lnT w="0">
                      <a:noFill/>
                    </a:lnT>
                    <a:lnB w="6350">
                      <a:solidFill>
                        <a:srgbClr val="D9D9D9"/>
                      </a:solidFill>
                    </a:lnB>
                    <a:solidFill>
                      <a:srgbClr val="E40000"/>
                    </a:solidFill>
                  </a:tcPr>
                </a:tc>
              </a:tr>
              <a:tr h="521207">
                <a:tc>
                  <a:txBody>
                    <a:bodyPr/>
                    <a:lstStyle/>
                    <a:p>
                      <a:r>
                        <a:rPr sz="1000" b="1" i="0">
                          <a:solidFill>
                            <a:srgbClr val="1F1F1F"/>
                          </a:solidFill>
                        </a:rPr>
                        <a:t>Field visits to Micro don't pay back</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₹53,026 per activation vs ₹2,505/month bundle</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Micro is digital first; routing refuses field visits</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1000" b="1" i="0">
                          <a:solidFill>
                            <a:srgbClr val="1F1F1F"/>
                          </a:solidFill>
                        </a:rPr>
                        <a:t>We lose leads on process, not price</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1,291 lost on process vs 621 on price</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Quote inside the chat, with no visit needed</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1000" b="1" i="0">
                          <a:solidFill>
                            <a:srgbClr val="1F1F1F"/>
                          </a:solidFill>
                        </a:rPr>
                        <a:t>Past sales broke the rules</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48 of 368 bundles; 18 activations on a cancelled GSTIN</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Rules engine decides every sale; KYC checks GST status</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1000" b="1" i="0">
                          <a:solidFill>
                            <a:srgbClr val="1F1F1F"/>
                          </a:solidFill>
                        </a:rPr>
                        <a:t>Waiting and chasing hurt loyalty</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NPS 7.3 at 11-15 days, 5.8 at 26+; churn 6% with 0-1 calls, 23% with 4-5</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Tracker with a date per service and self-service slots</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1000" b="1" i="0">
                          <a:solidFill>
                            <a:srgbClr val="1F1F1F"/>
                          </a:solidFill>
                        </a:rPr>
                        <a:t>Tier 2 loses more after KYC</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51.8% activate vs 72.7% in tier 1</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Holds shown to owner and staff. Partly addressed: install capacity not built</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1000" b="1" i="0">
                          <a:solidFill>
                            <a:srgbClr val="1F1F1F"/>
                          </a:solidFill>
                        </a:rPr>
                        <a:t>GSTIN predicts activation</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9.6% with GSTIN vs 2.0% without</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Advisor asks for it; lookup fills in details; score uses it</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Start with professional offices and Micro; add bigger sites with sales help</a:t>
            </a:r>
          </a:p>
        </p:txBody>
      </p:sp>
      <p:graphicFrame>
        <p:nvGraphicFramePr>
          <p:cNvPr id="4" name="Segment table"/>
          <p:cNvGraphicFramePr>
            <a:graphicFrameLocks noGrp="1"/>
          </p:cNvGraphicFramePr>
          <p:nvPr/>
        </p:nvGraphicFramePr>
        <p:xfrm>
          <a:off x="365760" y="1060704"/>
          <a:ext cx="8412480" cy="2743200"/>
        </p:xfrm>
        <a:graphic>
          <a:graphicData uri="http://schemas.openxmlformats.org/drawingml/2006/table">
            <a:tbl>
              <a:tblPr firstRow="1" bandRow="0">
                <a:tableStyleId>{2D5ABB26-0587-4C30-8999-92F81FD0307C}</a:tableStyleId>
              </a:tblPr>
              <a:tblGrid>
                <a:gridCol w="1051560"/>
                <a:gridCol w="457200"/>
                <a:gridCol w="621792"/>
                <a:gridCol w="457200"/>
                <a:gridCol w="658368"/>
                <a:gridCol w="640080"/>
                <a:gridCol w="2331720"/>
                <a:gridCol w="594360"/>
                <a:gridCol w="548640"/>
                <a:gridCol w="1051560"/>
              </a:tblGrid>
              <a:tr h="402336">
                <a:tc>
                  <a:txBody>
                    <a:bodyPr/>
                    <a:lstStyle/>
                    <a:p>
                      <a:r>
                        <a:rPr sz="850" b="1" i="0">
                          <a:solidFill>
                            <a:srgbClr val="FFFFFF"/>
                          </a:solidFill>
                        </a:rPr>
                        <a:t>Segment</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850" b="1" i="0">
                          <a:solidFill>
                            <a:srgbClr val="FFFFFF"/>
                          </a:solidFill>
                        </a:rPr>
                        <a:t>Leads</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850" b="1" i="0">
                          <a:solidFill>
                            <a:srgbClr val="FFFFFF"/>
                          </a:solidFill>
                        </a:rPr>
                        <a:t>Activated</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850" b="1" i="0">
                          <a:solidFill>
                            <a:srgbClr val="FFFFFF"/>
                          </a:solidFill>
                        </a:rPr>
                        <a:t>Conv.
rate</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850" b="1" i="0">
                          <a:solidFill>
                            <a:srgbClr val="FFFFFF"/>
                          </a:solidFill>
                        </a:rPr>
                        <a:t>Cost per
activation</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850" b="1" i="0">
                          <a:solidFill>
                            <a:srgbClr val="FFFFFF"/>
                          </a:solidFill>
                        </a:rPr>
                        <a:t>Payback
(months)</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850" b="1" i="0">
                          <a:solidFill>
                            <a:srgbClr val="FFFFFF"/>
                          </a:solidFill>
                        </a:rPr>
                        <a:t>Example bundle (live quote)</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850" b="1" i="0">
                          <a:solidFill>
                            <a:srgbClr val="FFFFFF"/>
                          </a:solidFill>
                        </a:rPr>
                        <a:t>Per month</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850" b="1" i="0">
                          <a:solidFill>
                            <a:srgbClr val="FFFFFF"/>
                          </a:solidFill>
                        </a:rPr>
                        <a:t>Today's
spend*</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850" b="1" i="0">
                          <a:solidFill>
                            <a:srgbClr val="FFFFFF"/>
                          </a:solidFill>
                        </a:rPr>
                        <a:t>Plan</a:t>
                      </a:r>
                    </a:p>
                  </a:txBody>
                  <a:tcPr marL="54864" marR="54864" marT="22860" marB="22860" anchor="ctr">
                    <a:lnL w="0">
                      <a:noFill/>
                    </a:lnL>
                    <a:lnR w="0">
                      <a:noFill/>
                    </a:lnR>
                    <a:lnT w="0">
                      <a:noFill/>
                    </a:lnT>
                    <a:lnB w="6350">
                      <a:solidFill>
                        <a:srgbClr val="D9D9D9"/>
                      </a:solidFill>
                    </a:lnB>
                    <a:solidFill>
                      <a:srgbClr val="E40000"/>
                    </a:solidFill>
                  </a:tcPr>
                </a:tc>
              </a:tr>
              <a:tr h="585216">
                <a:tc>
                  <a:txBody>
                    <a:bodyPr/>
                    <a:lstStyle/>
                    <a:p>
                      <a:r>
                        <a:rPr sz="900" b="1" i="0">
                          <a:solidFill>
                            <a:srgbClr val="1F1F1F"/>
                          </a:solidFill>
                        </a:rPr>
                        <a:t>Professional offices</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1,247</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138</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11.1%</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₹10,695</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1.6</a:t>
                      </a:r>
                    </a:p>
                  </a:txBody>
                  <a:tcPr marL="54864" marR="54864" marT="22860" marB="22860" anchor="ctr">
                    <a:lnL w="0">
                      <a:noFill/>
                    </a:lnL>
                    <a:lnR w="0">
                      <a:noFill/>
                    </a:lnR>
                    <a:lnT w="0">
                      <a:noFill/>
                    </a:lnT>
                    <a:lnB w="6350">
                      <a:solidFill>
                        <a:srgbClr val="D9D9D9"/>
                      </a:solidFill>
                    </a:lnB>
                    <a:solidFill>
                      <a:srgbClr val="FDECEC"/>
                    </a:solidFill>
                  </a:tcPr>
                </a:tc>
                <a:tc>
                  <a:txBody>
                    <a:bodyPr/>
                    <a:lstStyle/>
                    <a:p>
                      <a:r>
                        <a:rPr sz="900" b="0" i="0">
                          <a:solidFill>
                            <a:srgbClr val="1F1F1F"/>
                          </a:solidFill>
                        </a:rPr>
                        <a:t>CA firm, 13 people: Biz Fibre 300, 3 lines, email, security, backup; 12 months</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₹5,738</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₹2,600</a:t>
                      </a:r>
                    </a:p>
                  </a:txBody>
                  <a:tcPr marL="54864" marR="54864" marT="22860" marB="22860" anchor="ctr">
                    <a:lnL w="0">
                      <a:noFill/>
                    </a:lnL>
                    <a:lnR w="0">
                      <a:noFill/>
                    </a:lnR>
                    <a:lnT w="0">
                      <a:noFill/>
                    </a:lnT>
                    <a:lnB w="6350">
                      <a:solidFill>
                        <a:srgbClr val="D9D9D9"/>
                      </a:solidFill>
                    </a:lnB>
                    <a:solidFill>
                      <a:srgbClr val="FDECEC"/>
                    </a:solidFill>
                  </a:tcPr>
                </a:tc>
                <a:tc>
                  <a:txBody>
                    <a:bodyPr/>
                    <a:lstStyle/>
                    <a:p>
                      <a:r>
                        <a:rPr sz="900" b="0" i="0">
                          <a:solidFill>
                            <a:srgbClr val="1F1F1F"/>
                          </a:solidFill>
                        </a:rPr>
                        <a:t>First: digital</a:t>
                      </a:r>
                    </a:p>
                  </a:txBody>
                  <a:tcPr marL="54864" marR="54864" marT="22860" marB="22860" anchor="ctr">
                    <a:lnL w="0">
                      <a:noFill/>
                    </a:lnL>
                    <a:lnR w="0">
                      <a:noFill/>
                    </a:lnR>
                    <a:lnT w="0">
                      <a:noFill/>
                    </a:lnT>
                    <a:lnB w="6350">
                      <a:solidFill>
                        <a:srgbClr val="D9D9D9"/>
                      </a:solidFill>
                    </a:lnB>
                    <a:solidFill>
                      <a:srgbClr val="FDECEC"/>
                    </a:solidFill>
                  </a:tcPr>
                </a:tc>
              </a:tr>
              <a:tr h="585216">
                <a:tc>
                  <a:txBody>
                    <a:bodyPr/>
                    <a:lstStyle/>
                    <a:p>
                      <a:r>
                        <a:rPr sz="900" b="1" i="0">
                          <a:solidFill>
                            <a:srgbClr val="1F1F1F"/>
                          </a:solidFill>
                        </a:rPr>
                        <a:t>Micro retail &amp; services</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2,709</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110</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4.1%</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₹20,007</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8.0</a:t>
                      </a:r>
                    </a:p>
                  </a:txBody>
                  <a:tcPr marL="54864" marR="54864" marT="22860" marB="22860" anchor="ctr">
                    <a:lnL w="0">
                      <a:noFill/>
                    </a:lnL>
                    <a:lnR w="0">
                      <a:noFill/>
                    </a:lnR>
                    <a:lnT w="0">
                      <a:noFill/>
                    </a:lnT>
                    <a:lnB w="6350">
                      <a:solidFill>
                        <a:srgbClr val="D9D9D9"/>
                      </a:solidFill>
                    </a:lnB>
                    <a:solidFill>
                      <a:srgbClr val="FDECEC"/>
                    </a:solidFill>
                  </a:tcPr>
                </a:tc>
                <a:tc>
                  <a:txBody>
                    <a:bodyPr/>
                    <a:lstStyle/>
                    <a:p>
                      <a:r>
                        <a:rPr sz="900" b="0" i="0">
                          <a:solidFill>
                            <a:srgbClr val="1F1F1F"/>
                          </a:solidFill>
                        </a:rPr>
                        <a:t>Kirana, 3 people: Biz Fibre 100, 2 lines; 12 months</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₹1,597</a:t>
                      </a:r>
                    </a:p>
                  </a:txBody>
                  <a:tcPr marL="54864" marR="54864" marT="22860" marB="22860" anchor="ctr">
                    <a:lnL w="0">
                      <a:noFill/>
                    </a:lnL>
                    <a:lnR w="0">
                      <a:noFill/>
                    </a:lnR>
                    <a:lnT w="0">
                      <a:noFill/>
                    </a:lnT>
                    <a:lnB w="6350">
                      <a:solidFill>
                        <a:srgbClr val="D9D9D9"/>
                      </a:solidFill>
                    </a:lnB>
                    <a:solidFill>
                      <a:srgbClr val="FDECEC"/>
                    </a:solidFill>
                  </a:tcPr>
                </a:tc>
                <a:tc>
                  <a:txBody>
                    <a:bodyPr/>
                    <a:lstStyle/>
                    <a:p>
                      <a:pPr algn="ctr"/>
                      <a:r>
                        <a:rPr sz="900" b="0" i="0">
                          <a:solidFill>
                            <a:srgbClr val="1F1F1F"/>
                          </a:solidFill>
                        </a:rPr>
                        <a:t>₹900</a:t>
                      </a:r>
                    </a:p>
                  </a:txBody>
                  <a:tcPr marL="54864" marR="54864" marT="22860" marB="22860" anchor="ctr">
                    <a:lnL w="0">
                      <a:noFill/>
                    </a:lnL>
                    <a:lnR w="0">
                      <a:noFill/>
                    </a:lnR>
                    <a:lnT w="0">
                      <a:noFill/>
                    </a:lnT>
                    <a:lnB w="6350">
                      <a:solidFill>
                        <a:srgbClr val="D9D9D9"/>
                      </a:solidFill>
                    </a:lnB>
                    <a:solidFill>
                      <a:srgbClr val="FDECEC"/>
                    </a:solidFill>
                  </a:tcPr>
                </a:tc>
                <a:tc>
                  <a:txBody>
                    <a:bodyPr/>
                    <a:lstStyle/>
                    <a:p>
                      <a:r>
                        <a:rPr sz="900" b="0" i="0">
                          <a:solidFill>
                            <a:srgbClr val="1F1F1F"/>
                          </a:solidFill>
                        </a:rPr>
                        <a:t>First: digital only</a:t>
                      </a:r>
                    </a:p>
                  </a:txBody>
                  <a:tcPr marL="54864" marR="54864" marT="22860" marB="22860" anchor="ctr">
                    <a:lnL w="0">
                      <a:noFill/>
                    </a:lnL>
                    <a:lnR w="0">
                      <a:noFill/>
                    </a:lnR>
                    <a:lnT w="0">
                      <a:noFill/>
                    </a:lnT>
                    <a:lnB w="6350">
                      <a:solidFill>
                        <a:srgbClr val="D9D9D9"/>
                      </a:solidFill>
                    </a:lnB>
                    <a:solidFill>
                      <a:srgbClr val="FDECEC"/>
                    </a:solidFill>
                  </a:tcPr>
                </a:tc>
              </a:tr>
              <a:tr h="585216">
                <a:tc>
                  <a:txBody>
                    <a:bodyPr/>
                    <a:lstStyle/>
                    <a:p>
                      <a:r>
                        <a:rPr sz="900" b="1" i="0">
                          <a:solidFill>
                            <a:srgbClr val="1F1F1F"/>
                          </a:solidFill>
                        </a:rPr>
                        <a:t>Small multi-site</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755</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83</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11.0%</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₹15,614</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0.5</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Restaurant chain, 7 sites: fibre, 5 lines, failover, POS, CCTV, SD-WAN; 24 months; ₹88,200 setup</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₹41,460</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₹9,150</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Next: sales help</a:t>
                      </a:r>
                    </a:p>
                  </a:txBody>
                  <a:tcPr marL="54864" marR="54864" marT="22860" marB="22860" anchor="ctr">
                    <a:lnL w="0">
                      <a:noFill/>
                    </a:lnL>
                    <a:lnR w="0">
                      <a:noFill/>
                    </a:lnR>
                    <a:lnT w="0">
                      <a:noFill/>
                    </a:lnT>
                    <a:lnB w="6350">
                      <a:solidFill>
                        <a:srgbClr val="D9D9D9"/>
                      </a:solidFill>
                    </a:lnB>
                    <a:solidFill>
                      <a:srgbClr val="FFFFFF"/>
                    </a:solidFill>
                  </a:tcPr>
                </a:tc>
              </a:tr>
              <a:tr h="585216">
                <a:tc>
                  <a:txBody>
                    <a:bodyPr/>
                    <a:lstStyle/>
                    <a:p>
                      <a:r>
                        <a:rPr sz="900" b="1" i="0">
                          <a:solidFill>
                            <a:srgbClr val="1F1F1F"/>
                          </a:solidFill>
                        </a:rPr>
                        <a:t>Small manufacturers</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289</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37</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12.8%</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₹15,324</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0.8</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Packaging unit, 74 people: leased line, 4 lines, email, security; 12 months; ₹10,000 setup</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₹12,688</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₹14,300</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Next: sales help</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sp>
        <p:nvSpPr>
          <p:cNvPr id="5" name="Pricing note"/>
          <p:cNvSpPr txBox="1"/>
          <p:nvPr/>
        </p:nvSpPr>
        <p:spPr>
          <a:xfrm>
            <a:off x="365760" y="4041648"/>
            <a:ext cx="7086600" cy="603504"/>
          </a:xfrm>
          <a:prstGeom prst="rect">
            <a:avLst/>
          </a:prstGeom>
          <a:noFill/>
        </p:spPr>
        <p:txBody>
          <a:bodyPr wrap="square" anchor="t" lIns="0" rIns="0" tIns="0" bIns="0">
            <a:spAutoFit/>
          </a:bodyPr>
          <a:lstStyle/>
          <a:p>
            <a:pPr>
              <a:spcAft>
                <a:spcPts val="200"/>
              </a:spcAft>
            </a:pPr>
            <a:r>
              <a:rPr sz="950" b="1" i="0">
                <a:solidFill>
                  <a:srgbClr val="1F1F1F"/>
                </a:solidFill>
              </a:rPr>
              <a:t>Price: </a:t>
            </a:r>
            <a:r>
              <a:rPr sz="950" b="0" i="0">
                <a:solidFill>
                  <a:srgbClr val="1F1F1F"/>
                </a:solidFill>
              </a:rPr>
              <a:t>the catalogue's lowest price; one monthly total; no discounts or taxes.</a:t>
            </a:r>
          </a:p>
          <a:p>
            <a:pPr>
              <a:spcAft>
                <a:spcPts val="200"/>
              </a:spcAft>
            </a:pPr>
            <a:r>
              <a:rPr sz="950" b="1" i="0">
                <a:solidFill>
                  <a:srgbClr val="1F1F1F"/>
                </a:solidFill>
              </a:rPr>
              <a:t>*Today's spend: </a:t>
            </a:r>
            <a:r>
              <a:rPr sz="950" b="0" i="0">
                <a:solidFill>
                  <a:srgbClr val="1F1F1F"/>
                </a:solidFill>
              </a:rPr>
              <a:t>median monthly telecom spend of all leads in the segment. Quote profiles are our examples, near each segment's median size.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From first question to tracked order on a phone, with no salesperson</a:t>
            </a:r>
          </a:p>
        </p:txBody>
      </p:sp>
      <p:pic>
        <p:nvPicPr>
          <p:cNvPr id="4" name="Picture 3" descr="Advisor screen from the prototype: Asks about the business, recommends and explains why"/>
          <p:cNvPicPr>
            <a:picLocks noChangeAspect="1"/>
          </p:cNvPicPr>
          <p:nvPr/>
        </p:nvPicPr>
        <p:blipFill>
          <a:blip r:embed="rId4"/>
          <a:stretch>
            <a:fillRect/>
          </a:stretch>
        </p:blipFill>
        <p:spPr>
          <a:xfrm>
            <a:off x="365760" y="1042415"/>
            <a:ext cx="1252728" cy="2708821"/>
          </a:xfrm>
          <a:prstGeom prst="rect">
            <a:avLst/>
          </a:prstGeom>
          <a:ln w="9525">
            <a:solidFill>
              <a:srgbClr val="D9D9D9"/>
            </a:solidFill>
          </a:ln>
        </p:spPr>
      </p:pic>
      <p:sp>
        <p:nvSpPr>
          <p:cNvPr id="5" name="Advisor caption"/>
          <p:cNvSpPr txBox="1"/>
          <p:nvPr/>
        </p:nvSpPr>
        <p:spPr>
          <a:xfrm>
            <a:off x="365760" y="3778668"/>
            <a:ext cx="1435608" cy="640080"/>
          </a:xfrm>
          <a:prstGeom prst="rect">
            <a:avLst/>
          </a:prstGeom>
          <a:noFill/>
        </p:spPr>
        <p:txBody>
          <a:bodyPr wrap="square" anchor="t" lIns="0" rIns="0" tIns="0" bIns="0">
            <a:spAutoFit/>
          </a:bodyPr>
          <a:lstStyle/>
          <a:p>
            <a:pPr>
              <a:spcAft>
                <a:spcPts val="0"/>
              </a:spcAft>
            </a:pPr>
            <a:r>
              <a:rPr sz="1050" b="1" i="0">
                <a:solidFill>
                  <a:srgbClr val="E40000"/>
                </a:solidFill>
              </a:rPr>
              <a:t>Advisor</a:t>
            </a:r>
          </a:p>
          <a:p>
            <a:pPr>
              <a:spcAft>
                <a:spcPts val="0"/>
              </a:spcAft>
            </a:pPr>
            <a:r>
              <a:rPr sz="900" b="0" i="0">
                <a:solidFill>
                  <a:srgbClr val="1F1F1F"/>
                </a:solidFill>
              </a:rPr>
              <a:t>Asks about the business, recommends and explains why</a:t>
            </a:r>
          </a:p>
        </p:txBody>
      </p:sp>
      <p:pic>
        <p:nvPicPr>
          <p:cNvPr id="6" name="Picture 5" descr="Hindi screen from the prototype: Same advisor; replies in Hindi, same engine price"/>
          <p:cNvPicPr>
            <a:picLocks noChangeAspect="1"/>
          </p:cNvPicPr>
          <p:nvPr/>
        </p:nvPicPr>
        <p:blipFill>
          <a:blip r:embed="rId5"/>
          <a:stretch>
            <a:fillRect/>
          </a:stretch>
        </p:blipFill>
        <p:spPr>
          <a:xfrm>
            <a:off x="2155698" y="1042415"/>
            <a:ext cx="1252728" cy="2708821"/>
          </a:xfrm>
          <a:prstGeom prst="rect">
            <a:avLst/>
          </a:prstGeom>
          <a:ln w="9525">
            <a:solidFill>
              <a:srgbClr val="D9D9D9"/>
            </a:solidFill>
          </a:ln>
        </p:spPr>
      </p:pic>
      <p:sp>
        <p:nvSpPr>
          <p:cNvPr id="7" name="Hindi caption"/>
          <p:cNvSpPr txBox="1"/>
          <p:nvPr/>
        </p:nvSpPr>
        <p:spPr>
          <a:xfrm>
            <a:off x="2155698" y="3778668"/>
            <a:ext cx="1435608" cy="640080"/>
          </a:xfrm>
          <a:prstGeom prst="rect">
            <a:avLst/>
          </a:prstGeom>
          <a:noFill/>
        </p:spPr>
        <p:txBody>
          <a:bodyPr wrap="square" anchor="t" lIns="0" rIns="0" tIns="0" bIns="0">
            <a:spAutoFit/>
          </a:bodyPr>
          <a:lstStyle/>
          <a:p>
            <a:pPr>
              <a:spcAft>
                <a:spcPts val="0"/>
              </a:spcAft>
            </a:pPr>
            <a:r>
              <a:rPr sz="1050" b="1" i="0">
                <a:solidFill>
                  <a:srgbClr val="E40000"/>
                </a:solidFill>
              </a:rPr>
              <a:t>Hindi</a:t>
            </a:r>
          </a:p>
          <a:p>
            <a:pPr>
              <a:spcAft>
                <a:spcPts val="0"/>
              </a:spcAft>
            </a:pPr>
            <a:r>
              <a:rPr sz="900" b="0" i="0">
                <a:solidFill>
                  <a:srgbClr val="1F1F1F"/>
                </a:solidFill>
              </a:rPr>
              <a:t>Same advisor; replies in Hindi, same engine price</a:t>
            </a:r>
          </a:p>
        </p:txBody>
      </p:sp>
      <p:pic>
        <p:nvPicPr>
          <p:cNvPr id="8" name="Picture 7" descr="Quote screen from the prototype: One monthly price; add-on on: ₹1,597 to ₹2,196"/>
          <p:cNvPicPr>
            <a:picLocks noChangeAspect="1"/>
          </p:cNvPicPr>
          <p:nvPr/>
        </p:nvPicPr>
        <p:blipFill>
          <a:blip r:embed="rId6"/>
          <a:stretch>
            <a:fillRect/>
          </a:stretch>
        </p:blipFill>
        <p:spPr>
          <a:xfrm>
            <a:off x="3945635" y="1042415"/>
            <a:ext cx="1252728" cy="2708821"/>
          </a:xfrm>
          <a:prstGeom prst="rect">
            <a:avLst/>
          </a:prstGeom>
          <a:ln w="9525">
            <a:solidFill>
              <a:srgbClr val="D9D9D9"/>
            </a:solidFill>
          </a:ln>
        </p:spPr>
      </p:pic>
      <p:sp>
        <p:nvSpPr>
          <p:cNvPr id="9" name="Quote caption"/>
          <p:cNvSpPr txBox="1"/>
          <p:nvPr/>
        </p:nvSpPr>
        <p:spPr>
          <a:xfrm>
            <a:off x="3945635" y="3778668"/>
            <a:ext cx="1435608" cy="640080"/>
          </a:xfrm>
          <a:prstGeom prst="rect">
            <a:avLst/>
          </a:prstGeom>
          <a:noFill/>
        </p:spPr>
        <p:txBody>
          <a:bodyPr wrap="square" anchor="t" lIns="0" rIns="0" tIns="0" bIns="0">
            <a:spAutoFit/>
          </a:bodyPr>
          <a:lstStyle/>
          <a:p>
            <a:pPr>
              <a:spcAft>
                <a:spcPts val="0"/>
              </a:spcAft>
            </a:pPr>
            <a:r>
              <a:rPr sz="1050" b="1" i="0">
                <a:solidFill>
                  <a:srgbClr val="E40000"/>
                </a:solidFill>
              </a:rPr>
              <a:t>Quote</a:t>
            </a:r>
          </a:p>
          <a:p>
            <a:pPr>
              <a:spcAft>
                <a:spcPts val="0"/>
              </a:spcAft>
            </a:pPr>
            <a:r>
              <a:rPr sz="900" b="0" i="0">
                <a:solidFill>
                  <a:srgbClr val="1F1F1F"/>
                </a:solidFill>
              </a:rPr>
              <a:t>One monthly price; add-on on: ₹1,597 to ₹2,196</a:t>
            </a:r>
          </a:p>
        </p:txBody>
      </p:sp>
      <p:pic>
        <p:nvPicPr>
          <p:cNvPr id="10" name="Picture 9" descr="Smart KYC screen from the prototype: Finds the problem and says what to upload"/>
          <p:cNvPicPr>
            <a:picLocks noChangeAspect="1"/>
          </p:cNvPicPr>
          <p:nvPr/>
        </p:nvPicPr>
        <p:blipFill>
          <a:blip r:embed="rId7"/>
          <a:stretch>
            <a:fillRect/>
          </a:stretch>
        </p:blipFill>
        <p:spPr>
          <a:xfrm>
            <a:off x="5735574" y="1042415"/>
            <a:ext cx="1252728" cy="2708821"/>
          </a:xfrm>
          <a:prstGeom prst="rect">
            <a:avLst/>
          </a:prstGeom>
          <a:ln w="9525">
            <a:solidFill>
              <a:srgbClr val="D9D9D9"/>
            </a:solidFill>
          </a:ln>
        </p:spPr>
      </p:pic>
      <p:sp>
        <p:nvSpPr>
          <p:cNvPr id="11" name="Smart KYC caption"/>
          <p:cNvSpPr txBox="1"/>
          <p:nvPr/>
        </p:nvSpPr>
        <p:spPr>
          <a:xfrm>
            <a:off x="5735574" y="3778668"/>
            <a:ext cx="1435608" cy="640080"/>
          </a:xfrm>
          <a:prstGeom prst="rect">
            <a:avLst/>
          </a:prstGeom>
          <a:noFill/>
        </p:spPr>
        <p:txBody>
          <a:bodyPr wrap="square" anchor="t" lIns="0" rIns="0" tIns="0" bIns="0">
            <a:spAutoFit/>
          </a:bodyPr>
          <a:lstStyle/>
          <a:p>
            <a:pPr>
              <a:spcAft>
                <a:spcPts val="0"/>
              </a:spcAft>
            </a:pPr>
            <a:r>
              <a:rPr sz="1050" b="1" i="0">
                <a:solidFill>
                  <a:srgbClr val="E40000"/>
                </a:solidFill>
              </a:rPr>
              <a:t>Smart KYC</a:t>
            </a:r>
          </a:p>
          <a:p>
            <a:pPr>
              <a:spcAft>
                <a:spcPts val="0"/>
              </a:spcAft>
            </a:pPr>
            <a:r>
              <a:rPr sz="900" b="0" i="0">
                <a:solidFill>
                  <a:srgbClr val="1F1F1F"/>
                </a:solidFill>
              </a:rPr>
              <a:t>Finds the problem and says what to upload</a:t>
            </a:r>
          </a:p>
        </p:txBody>
      </p:sp>
      <p:pic>
        <p:nvPicPr>
          <p:cNvPr id="12" name="Picture 11" descr="Tracker screen from the prototype: Date per service; owner picks an install slot"/>
          <p:cNvPicPr>
            <a:picLocks noChangeAspect="1"/>
          </p:cNvPicPr>
          <p:nvPr/>
        </p:nvPicPr>
        <p:blipFill>
          <a:blip r:embed="rId8"/>
          <a:stretch>
            <a:fillRect/>
          </a:stretch>
        </p:blipFill>
        <p:spPr>
          <a:xfrm>
            <a:off x="7525511" y="1042415"/>
            <a:ext cx="1252728" cy="2708821"/>
          </a:xfrm>
          <a:prstGeom prst="rect">
            <a:avLst/>
          </a:prstGeom>
          <a:ln w="9525">
            <a:solidFill>
              <a:srgbClr val="D9D9D9"/>
            </a:solidFill>
          </a:ln>
        </p:spPr>
      </p:pic>
      <p:sp>
        <p:nvSpPr>
          <p:cNvPr id="13" name="Tracker caption"/>
          <p:cNvSpPr txBox="1"/>
          <p:nvPr/>
        </p:nvSpPr>
        <p:spPr>
          <a:xfrm>
            <a:off x="7525511" y="3778668"/>
            <a:ext cx="1435608" cy="640080"/>
          </a:xfrm>
          <a:prstGeom prst="rect">
            <a:avLst/>
          </a:prstGeom>
          <a:noFill/>
        </p:spPr>
        <p:txBody>
          <a:bodyPr wrap="square" anchor="t" lIns="0" rIns="0" tIns="0" bIns="0">
            <a:spAutoFit/>
          </a:bodyPr>
          <a:lstStyle/>
          <a:p>
            <a:pPr>
              <a:spcAft>
                <a:spcPts val="0"/>
              </a:spcAft>
            </a:pPr>
            <a:r>
              <a:rPr sz="1050" b="1" i="0">
                <a:solidFill>
                  <a:srgbClr val="E40000"/>
                </a:solidFill>
              </a:rPr>
              <a:t>Tracker</a:t>
            </a:r>
          </a:p>
          <a:p>
            <a:pPr>
              <a:spcAft>
                <a:spcPts val="0"/>
              </a:spcAft>
            </a:pPr>
            <a:r>
              <a:rPr sz="900" b="0" i="0">
                <a:solidFill>
                  <a:srgbClr val="1F1F1F"/>
                </a:solidFill>
              </a:rPr>
              <a:t>Date per service; owner picks an install slot</a:t>
            </a:r>
          </a:p>
        </p:txBody>
      </p:sp>
      <p:sp>
        <p:nvSpPr>
          <p:cNvPr id="14" name="Journey note"/>
          <p:cNvSpPr txBox="1"/>
          <p:nvPr/>
        </p:nvSpPr>
        <p:spPr>
          <a:xfrm>
            <a:off x="365760" y="4443984"/>
            <a:ext cx="7040880" cy="219456"/>
          </a:xfrm>
          <a:prstGeom prst="rect">
            <a:avLst/>
          </a:prstGeom>
          <a:noFill/>
        </p:spPr>
        <p:txBody>
          <a:bodyPr wrap="square" anchor="t" lIns="0" rIns="0" tIns="0" bIns="0">
            <a:spAutoFit/>
          </a:bodyPr>
          <a:lstStyle/>
          <a:p>
            <a:pPr>
              <a:spcAft>
                <a:spcPts val="300"/>
              </a:spcAft>
            </a:pPr>
            <a:r>
              <a:rPr sz="950" b="0" i="0">
                <a:solidFill>
                  <a:srgbClr val="595959"/>
                </a:solidFill>
              </a:rPr>
              <a:t>Real prototype screens. Not built: voice, WhatsApp and regional-language screens.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The AI explains; the rules engine decides every product and price</a:t>
            </a:r>
          </a:p>
        </p:txBody>
      </p:sp>
      <p:pic>
        <p:nvPicPr>
          <p:cNvPr id="4" name="Picture 3" descr="System architecture: React frontend, Spring Boot backend with rules engine, Python AI service, Google Gemini API, Neon PostgreSQL and offline model training"/>
          <p:cNvPicPr>
            <a:picLocks noChangeAspect="1"/>
          </p:cNvPicPr>
          <p:nvPr/>
        </p:nvPicPr>
        <p:blipFill>
          <a:blip r:embed="rId4"/>
          <a:stretch>
            <a:fillRect/>
          </a:stretch>
        </p:blipFill>
        <p:spPr>
          <a:xfrm>
            <a:off x="365760" y="1042415"/>
            <a:ext cx="5257800" cy="3575304"/>
          </a:xfrm>
          <a:prstGeom prst="rect">
            <a:avLst/>
          </a:prstGeom>
          <a:ln w="9525">
            <a:solidFill>
              <a:srgbClr val="D9D9D9"/>
            </a:solidFill>
          </a:ln>
        </p:spPr>
      </p:pic>
      <p:sp>
        <p:nvSpPr>
          <p:cNvPr id="5" name="Architecture caption"/>
          <p:cNvSpPr txBox="1"/>
          <p:nvPr/>
        </p:nvSpPr>
        <p:spPr>
          <a:xfrm>
            <a:off x="365760" y="4617720"/>
            <a:ext cx="5257800" cy="182880"/>
          </a:xfrm>
          <a:prstGeom prst="rect">
            <a:avLst/>
          </a:prstGeom>
          <a:noFill/>
        </p:spPr>
        <p:txBody>
          <a:bodyPr wrap="square" anchor="t" lIns="0" rIns="0" tIns="0" bIns="0">
            <a:spAutoFit/>
          </a:bodyPr>
          <a:lstStyle/>
          <a:p>
            <a:pPr>
              <a:spcAft>
                <a:spcPts val="300"/>
              </a:spcAft>
            </a:pPr>
            <a:r>
              <a:rPr sz="900" b="0" i="0">
                <a:solidFill>
                  <a:srgbClr val="595959"/>
                </a:solidFill>
              </a:rPr>
              <a:t>Main components and data flows</a:t>
            </a:r>
          </a:p>
        </p:txBody>
      </p:sp>
      <p:sp>
        <p:nvSpPr>
          <p:cNvPr id="6" name="AI safeguard card"/>
          <p:cNvSpPr/>
          <p:nvPr/>
        </p:nvSpPr>
        <p:spPr>
          <a:xfrm>
            <a:off x="5760720" y="1042415"/>
            <a:ext cx="3017520" cy="932688"/>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I safeguard"/>
          <p:cNvSpPr txBox="1"/>
          <p:nvPr/>
        </p:nvSpPr>
        <p:spPr>
          <a:xfrm>
            <a:off x="5870448" y="1078992"/>
            <a:ext cx="2816352" cy="859536"/>
          </a:xfrm>
          <a:prstGeom prst="rect">
            <a:avLst/>
          </a:prstGeom>
          <a:noFill/>
        </p:spPr>
        <p:txBody>
          <a:bodyPr wrap="square" anchor="ctr" lIns="0" rIns="0" tIns="0" bIns="0">
            <a:spAutoFit/>
          </a:bodyPr>
          <a:lstStyle/>
          <a:p>
            <a:pPr>
              <a:spcAft>
                <a:spcPts val="100"/>
              </a:spcAft>
            </a:pPr>
            <a:r>
              <a:rPr sz="1100" b="1" i="0">
                <a:solidFill>
                  <a:srgbClr val="E40000"/>
                </a:solidFill>
              </a:rPr>
              <a:t>AI safeguard</a:t>
            </a:r>
          </a:p>
          <a:p>
            <a:pPr>
              <a:spcAft>
                <a:spcPts val="100"/>
              </a:spcAft>
            </a:pPr>
            <a:r>
              <a:rPr sz="1000" b="0" i="0">
                <a:solidFill>
                  <a:srgbClr val="1F1F1F"/>
                </a:solidFill>
              </a:rPr>
              <a:t>Every ₹ amount and product in a reply is checked against the engine. Wrong? One retry, then a template.</a:t>
            </a:r>
          </a:p>
        </p:txBody>
      </p:sp>
      <p:graphicFrame>
        <p:nvGraphicFramePr>
          <p:cNvPr id="8" name="Proof table"/>
          <p:cNvGraphicFramePr>
            <a:graphicFrameLocks noGrp="1"/>
          </p:cNvGraphicFramePr>
          <p:nvPr/>
        </p:nvGraphicFramePr>
        <p:xfrm>
          <a:off x="5760720" y="2066543"/>
          <a:ext cx="3017520" cy="2496312"/>
        </p:xfrm>
        <a:graphic>
          <a:graphicData uri="http://schemas.openxmlformats.org/drawingml/2006/table">
            <a:tbl>
              <a:tblPr firstRow="1" bandRow="0">
                <a:tableStyleId>{2D5ABB26-0587-4C30-8999-92F81FD0307C}</a:tableStyleId>
              </a:tblPr>
              <a:tblGrid>
                <a:gridCol w="1325880"/>
                <a:gridCol w="1691640"/>
              </a:tblGrid>
              <a:tr h="256032">
                <a:tc>
                  <a:txBody>
                    <a:bodyPr/>
                    <a:lstStyle/>
                    <a:p>
                      <a:r>
                        <a:rPr sz="900" b="1" i="0">
                          <a:solidFill>
                            <a:srgbClr val="FFFFFF"/>
                          </a:solidFill>
                        </a:rPr>
                        <a:t>Proof</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900" b="1" i="0">
                          <a:solidFill>
                            <a:srgbClr val="FFFFFF"/>
                          </a:solidFill>
                        </a:rPr>
                        <a:t>Result</a:t>
                      </a:r>
                    </a:p>
                  </a:txBody>
                  <a:tcPr marL="54864" marR="54864" marT="22860" marB="22860" anchor="ctr">
                    <a:lnL w="0">
                      <a:noFill/>
                    </a:lnL>
                    <a:lnR w="0">
                      <a:noFill/>
                    </a:lnR>
                    <a:lnT w="0">
                      <a:noFill/>
                    </a:lnT>
                    <a:lnB w="6350">
                      <a:solidFill>
                        <a:srgbClr val="D9D9D9"/>
                      </a:solidFill>
                    </a:lnB>
                    <a:solidFill>
                      <a:srgbClr val="E40000"/>
                    </a:solidFill>
                  </a:tcPr>
                </a:tc>
              </a:tr>
              <a:tr h="448056">
                <a:tc>
                  <a:txBody>
                    <a:bodyPr/>
                    <a:lstStyle/>
                    <a:p>
                      <a:r>
                        <a:rPr sz="900" b="1" i="0">
                          <a:solidFill>
                            <a:srgbClr val="1F1F1F"/>
                          </a:solidFill>
                        </a:rPr>
                        <a:t>Automated tests</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789 pass (480 + 146 + 163)</a:t>
                      </a:r>
                    </a:p>
                  </a:txBody>
                  <a:tcPr marL="54864" marR="54864" marT="22860" marB="22860" anchor="ctr">
                    <a:lnL w="0">
                      <a:noFill/>
                    </a:lnL>
                    <a:lnR w="0">
                      <a:noFill/>
                    </a:lnR>
                    <a:lnT w="0">
                      <a:noFill/>
                    </a:lnT>
                    <a:lnB w="6350">
                      <a:solidFill>
                        <a:srgbClr val="D9D9D9"/>
                      </a:solidFill>
                    </a:lnB>
                    <a:solidFill>
                      <a:srgbClr val="FFFFFF"/>
                    </a:solidFill>
                  </a:tcPr>
                </a:tc>
              </a:tr>
              <a:tr h="448056">
                <a:tc>
                  <a:txBody>
                    <a:bodyPr/>
                    <a:lstStyle/>
                    <a:p>
                      <a:r>
                        <a:rPr sz="900" b="1" i="0">
                          <a:solidFill>
                            <a:srgbClr val="1F1F1F"/>
                          </a:solidFill>
                        </a:rPr>
                        <a:t>KYC verdicts vs answer key</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12 of 12, on hand-transcribed fields</a:t>
                      </a:r>
                    </a:p>
                  </a:txBody>
                  <a:tcPr marL="54864" marR="54864" marT="22860" marB="22860" anchor="ctr">
                    <a:lnL w="0">
                      <a:noFill/>
                    </a:lnL>
                    <a:lnR w="0">
                      <a:noFill/>
                    </a:lnR>
                    <a:lnT w="0">
                      <a:noFill/>
                    </a:lnT>
                    <a:lnB w="6350">
                      <a:solidFill>
                        <a:srgbClr val="D9D9D9"/>
                      </a:solidFill>
                    </a:lnB>
                    <a:solidFill>
                      <a:srgbClr val="FFFFFF"/>
                    </a:solidFill>
                  </a:tcPr>
                </a:tc>
              </a:tr>
              <a:tr h="448056">
                <a:tc>
                  <a:txBody>
                    <a:bodyPr/>
                    <a:lstStyle/>
                    <a:p>
                      <a:r>
                        <a:rPr sz="900" b="1" i="0">
                          <a:solidFill>
                            <a:srgbClr val="1F1F1F"/>
                          </a:solidFill>
                        </a:rPr>
                        <a:t>KYC read by real Gemini</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K03 and K11 as expected; blurry K04 refused</a:t>
                      </a:r>
                    </a:p>
                  </a:txBody>
                  <a:tcPr marL="54864" marR="54864" marT="22860" marB="22860" anchor="ctr">
                    <a:lnL w="0">
                      <a:noFill/>
                    </a:lnL>
                    <a:lnR w="0">
                      <a:noFill/>
                    </a:lnR>
                    <a:lnT w="0">
                      <a:noFill/>
                    </a:lnT>
                    <a:lnB w="6350">
                      <a:solidFill>
                        <a:srgbClr val="D9D9D9"/>
                      </a:solidFill>
                    </a:lnB>
                    <a:solidFill>
                      <a:srgbClr val="FFFFFF"/>
                    </a:solidFill>
                  </a:tcPr>
                </a:tc>
              </a:tr>
              <a:tr h="448056">
                <a:tc>
                  <a:txBody>
                    <a:bodyPr/>
                    <a:lstStyle/>
                    <a:p>
                      <a:r>
                        <a:rPr sz="900" b="1" i="0">
                          <a:solidFill>
                            <a:srgbClr val="1F1F1F"/>
                          </a:solidFill>
                        </a:rPr>
                        <a:t>Advisor scenarios run live</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3 of 15 passed; 12 not run yet</a:t>
                      </a:r>
                    </a:p>
                  </a:txBody>
                  <a:tcPr marL="54864" marR="54864" marT="22860" marB="22860" anchor="ctr">
                    <a:lnL w="0">
                      <a:noFill/>
                    </a:lnL>
                    <a:lnR w="0">
                      <a:noFill/>
                    </a:lnR>
                    <a:lnT w="0">
                      <a:noFill/>
                    </a:lnT>
                    <a:lnB w="6350">
                      <a:solidFill>
                        <a:srgbClr val="D9D9D9"/>
                      </a:solidFill>
                    </a:lnB>
                    <a:solidFill>
                      <a:srgbClr val="FFFFFF"/>
                    </a:solidFill>
                  </a:tcPr>
                </a:tc>
              </a:tr>
              <a:tr h="448056">
                <a:tc>
                  <a:txBody>
                    <a:bodyPr/>
                    <a:lstStyle/>
                    <a:p>
                      <a:r>
                        <a:rPr sz="900" b="1" i="0">
                          <a:solidFill>
                            <a:srgbClr val="1F1F1F"/>
                          </a:solidFill>
                        </a:rPr>
                        <a:t>Advisor in the browser, real Gemini</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English and Hindi replies showed the engine's ₹1,597</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KYC moves from paper and email to one sitting, with consent first</a:t>
            </a:r>
          </a:p>
        </p:txBody>
      </p:sp>
      <p:sp>
        <p:nvSpPr>
          <p:cNvPr id="4" name="KYC step 1"/>
          <p:cNvSpPr/>
          <p:nvPr/>
        </p:nvSpPr>
        <p:spPr>
          <a:xfrm>
            <a:off x="365760" y="1060704"/>
            <a:ext cx="1325880" cy="603504"/>
          </a:xfrm>
          <a:prstGeom prst="homePlate">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128016" tIns="0" bIns="0" wrap="square"/>
          <a:lstStyle/>
          <a:p>
            <a:pPr algn="ctr"/>
            <a:r>
              <a:rPr sz="950" b="1" i="0">
                <a:solidFill>
                  <a:srgbClr val="1F1F1F"/>
                </a:solidFill>
              </a:rPr>
              <a:t>Consent</a:t>
            </a:r>
          </a:p>
          <a:p>
            <a:pPr algn="ctr"/>
            <a:r>
              <a:rPr sz="950" b="1" i="0">
                <a:solidFill>
                  <a:srgbClr val="1F1F1F"/>
                </a:solidFill>
              </a:rPr>
              <a:t>by purpose</a:t>
            </a:r>
          </a:p>
        </p:txBody>
      </p:sp>
      <p:sp>
        <p:nvSpPr>
          <p:cNvPr id="5" name="KYC step 2"/>
          <p:cNvSpPr/>
          <p:nvPr/>
        </p:nvSpPr>
        <p:spPr>
          <a:xfrm>
            <a:off x="1783080" y="1060704"/>
            <a:ext cx="1325880" cy="603504"/>
          </a:xfrm>
          <a:prstGeom prst="homePlate">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128016" tIns="0" bIns="0" wrap="square"/>
          <a:lstStyle/>
          <a:p>
            <a:pPr algn="ctr"/>
            <a:r>
              <a:rPr sz="950" b="1" i="0">
                <a:solidFill>
                  <a:srgbClr val="1F1F1F"/>
                </a:solidFill>
              </a:rPr>
              <a:t>4 photos</a:t>
            </a:r>
          </a:p>
        </p:txBody>
      </p:sp>
      <p:sp>
        <p:nvSpPr>
          <p:cNvPr id="6" name="KYC step 3"/>
          <p:cNvSpPr/>
          <p:nvPr/>
        </p:nvSpPr>
        <p:spPr>
          <a:xfrm>
            <a:off x="3200400" y="1060704"/>
            <a:ext cx="1325880" cy="603504"/>
          </a:xfrm>
          <a:prstGeom prst="homePlate">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128016" tIns="0" bIns="0" wrap="square"/>
          <a:lstStyle/>
          <a:p>
            <a:pPr algn="ctr"/>
            <a:r>
              <a:rPr sz="950" b="1" i="0">
                <a:solidFill>
                  <a:srgbClr val="1F1F1F"/>
                </a:solidFill>
              </a:rPr>
              <a:t>Blur check</a:t>
            </a:r>
          </a:p>
          <a:p>
            <a:pPr algn="ctr"/>
            <a:r>
              <a:rPr sz="950" b="1" i="0">
                <a:solidFill>
                  <a:srgbClr val="1F1F1F"/>
                </a:solidFill>
              </a:rPr>
              <a:t>(no AI call)</a:t>
            </a:r>
          </a:p>
        </p:txBody>
      </p:sp>
      <p:sp>
        <p:nvSpPr>
          <p:cNvPr id="7" name="KYC step 4"/>
          <p:cNvSpPr/>
          <p:nvPr/>
        </p:nvSpPr>
        <p:spPr>
          <a:xfrm>
            <a:off x="4617720" y="1060704"/>
            <a:ext cx="1325880" cy="603504"/>
          </a:xfrm>
          <a:prstGeom prst="homePlate">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128016" tIns="0" bIns="0" wrap="square"/>
          <a:lstStyle/>
          <a:p>
            <a:pPr algn="ctr"/>
            <a:r>
              <a:rPr sz="950" b="1" i="0">
                <a:solidFill>
                  <a:srgbClr val="1F1F1F"/>
                </a:solidFill>
              </a:rPr>
              <a:t>Gemini</a:t>
            </a:r>
          </a:p>
          <a:p>
            <a:pPr algn="ctr"/>
            <a:r>
              <a:rPr sz="950" b="1" i="0">
                <a:solidFill>
                  <a:srgbClr val="1F1F1F"/>
                </a:solidFill>
              </a:rPr>
              <a:t>reads fields</a:t>
            </a:r>
          </a:p>
        </p:txBody>
      </p:sp>
      <p:sp>
        <p:nvSpPr>
          <p:cNvPr id="8" name="KYC step 5"/>
          <p:cNvSpPr/>
          <p:nvPr/>
        </p:nvSpPr>
        <p:spPr>
          <a:xfrm>
            <a:off x="6035040" y="1060704"/>
            <a:ext cx="1325880" cy="603504"/>
          </a:xfrm>
          <a:prstGeom prst="homePlate">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128016" tIns="0" bIns="0" wrap="square"/>
          <a:lstStyle/>
          <a:p>
            <a:pPr algn="ctr"/>
            <a:r>
              <a:rPr sz="950" b="1" i="0">
                <a:solidFill>
                  <a:srgbClr val="1F1F1F"/>
                </a:solidFill>
              </a:rPr>
              <a:t>17 checks +</a:t>
            </a:r>
          </a:p>
          <a:p>
            <a:pPr algn="ctr"/>
            <a:r>
              <a:rPr sz="950" b="1" i="0">
                <a:solidFill>
                  <a:srgbClr val="1F1F1F"/>
                </a:solidFill>
              </a:rPr>
              <a:t>registry lookup</a:t>
            </a:r>
          </a:p>
        </p:txBody>
      </p:sp>
      <p:sp>
        <p:nvSpPr>
          <p:cNvPr id="9" name="KYC step 6"/>
          <p:cNvSpPr/>
          <p:nvPr/>
        </p:nvSpPr>
        <p:spPr>
          <a:xfrm>
            <a:off x="7452360" y="1060704"/>
            <a:ext cx="1325880" cy="603504"/>
          </a:xfrm>
          <a:prstGeom prst="roundRect">
            <a:avLst/>
          </a:prstGeom>
          <a:solidFill>
            <a:srgbClr val="E4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950" b="1" i="0">
                <a:solidFill>
                  <a:srgbClr val="FFFFFF"/>
                </a:solidFill>
              </a:rPr>
              <a:t>Verified, fix</a:t>
            </a:r>
          </a:p>
          <a:p>
            <a:pPr algn="ctr"/>
            <a:r>
              <a:rPr sz="950" b="1" i="0">
                <a:solidFill>
                  <a:srgbClr val="FFFFFF"/>
                </a:solidFill>
              </a:rPr>
              <a:t>or rejected</a:t>
            </a:r>
          </a:p>
        </p:txBody>
      </p:sp>
      <p:graphicFrame>
        <p:nvGraphicFramePr>
          <p:cNvPr id="10" name="Privacy table"/>
          <p:cNvGraphicFramePr>
            <a:graphicFrameLocks noGrp="1"/>
          </p:cNvGraphicFramePr>
          <p:nvPr/>
        </p:nvGraphicFramePr>
        <p:xfrm>
          <a:off x="365760" y="1792224"/>
          <a:ext cx="5669280" cy="2560320"/>
        </p:xfrm>
        <a:graphic>
          <a:graphicData uri="http://schemas.openxmlformats.org/drawingml/2006/table">
            <a:tbl>
              <a:tblPr firstRow="1" bandRow="0">
                <a:tableStyleId>{2D5ABB26-0587-4C30-8999-92F81FD0307C}</a:tableStyleId>
              </a:tblPr>
              <a:tblGrid>
                <a:gridCol w="1325880"/>
                <a:gridCol w="4343400"/>
              </a:tblGrid>
              <a:tr h="274320">
                <a:tc>
                  <a:txBody>
                    <a:bodyPr/>
                    <a:lstStyle/>
                    <a:p>
                      <a:r>
                        <a:rPr sz="950" b="1" i="0">
                          <a:solidFill>
                            <a:srgbClr val="FFFFFF"/>
                          </a:solidFill>
                        </a:rPr>
                        <a:t>DPDP principle</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950" b="1" i="0">
                          <a:solidFill>
                            <a:srgbClr val="FFFFFF"/>
                          </a:solidFill>
                        </a:rPr>
                        <a:t>What we built (designed to align with the DPDP Act 2023)</a:t>
                      </a:r>
                    </a:p>
                  </a:txBody>
                  <a:tcPr marL="54864" marR="54864" marT="22860" marB="22860" anchor="ctr">
                    <a:lnL w="0">
                      <a:noFill/>
                    </a:lnL>
                    <a:lnR w="0">
                      <a:noFill/>
                    </a:lnR>
                    <a:lnT w="0">
                      <a:noFill/>
                    </a:lnT>
                    <a:lnB w="6350">
                      <a:solidFill>
                        <a:srgbClr val="D9D9D9"/>
                      </a:solidFill>
                    </a:lnB>
                    <a:solidFill>
                      <a:srgbClr val="E40000"/>
                    </a:solidFill>
                  </a:tcPr>
                </a:tc>
              </a:tr>
              <a:tr h="457200">
                <a:tc>
                  <a:txBody>
                    <a:bodyPr/>
                    <a:lstStyle/>
                    <a:p>
                      <a:r>
                        <a:rPr sz="950" b="1" i="0">
                          <a:solidFill>
                            <a:srgbClr val="1F1F1F"/>
                          </a:solidFill>
                        </a:rPr>
                        <a:t>Consent</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Boxes start unticked; versioned notice in English and Hindi; no upload without consent</a:t>
                      </a:r>
                    </a:p>
                  </a:txBody>
                  <a:tcPr marL="54864" marR="54864" marT="22860" marB="22860" anchor="ctr">
                    <a:lnL w="0">
                      <a:noFill/>
                    </a:lnL>
                    <a:lnR w="0">
                      <a:noFill/>
                    </a:lnR>
                    <a:lnT w="0">
                      <a:noFill/>
                    </a:lnT>
                    <a:lnB w="6350">
                      <a:solidFill>
                        <a:srgbClr val="D9D9D9"/>
                      </a:solidFill>
                    </a:lnB>
                    <a:solidFill>
                      <a:srgbClr val="FFFFFF"/>
                    </a:solidFill>
                  </a:tcPr>
                </a:tc>
              </a:tr>
              <a:tr h="457200">
                <a:tc>
                  <a:txBody>
                    <a:bodyPr/>
                    <a:lstStyle/>
                    <a:p>
                      <a:r>
                        <a:rPr sz="950" b="1" i="0">
                          <a:solidFill>
                            <a:srgbClr val="1F1F1F"/>
                          </a:solidFill>
                        </a:rPr>
                        <a:t>Purpose limitation</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Two required purposes (verification, installation); WhatsApp updates optional</a:t>
                      </a:r>
                    </a:p>
                  </a:txBody>
                  <a:tcPr marL="54864" marR="54864" marT="22860" marB="22860" anchor="ctr">
                    <a:lnL w="0">
                      <a:noFill/>
                    </a:lnL>
                    <a:lnR w="0">
                      <a:noFill/>
                    </a:lnR>
                    <a:lnT w="0">
                      <a:noFill/>
                    </a:lnT>
                    <a:lnB w="6350">
                      <a:solidFill>
                        <a:srgbClr val="D9D9D9"/>
                      </a:solidFill>
                    </a:lnB>
                    <a:solidFill>
                      <a:srgbClr val="FFFFFF"/>
                    </a:solidFill>
                  </a:tcPr>
                </a:tc>
              </a:tr>
              <a:tr h="457200">
                <a:tc>
                  <a:txBody>
                    <a:bodyPr/>
                    <a:lstStyle/>
                    <a:p>
                      <a:r>
                        <a:rPr sz="950" b="1" i="0">
                          <a:solidFill>
                            <a:srgbClr val="1F1F1F"/>
                          </a:solidFill>
                        </a:rPr>
                        <a:t>Data minimisation</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Photos deleted right after reading; only the needed fields are kept</a:t>
                      </a:r>
                    </a:p>
                  </a:txBody>
                  <a:tcPr marL="54864" marR="54864" marT="22860" marB="22860" anchor="ctr">
                    <a:lnL w="0">
                      <a:noFill/>
                    </a:lnL>
                    <a:lnR w="0">
                      <a:noFill/>
                    </a:lnR>
                    <a:lnT w="0">
                      <a:noFill/>
                    </a:lnT>
                    <a:lnB w="6350">
                      <a:solidFill>
                        <a:srgbClr val="D9D9D9"/>
                      </a:solidFill>
                    </a:lnB>
                    <a:solidFill>
                      <a:srgbClr val="FFFFFF"/>
                    </a:solidFill>
                  </a:tcPr>
                </a:tc>
              </a:tr>
              <a:tr h="457200">
                <a:tc>
                  <a:txBody>
                    <a:bodyPr/>
                    <a:lstStyle/>
                    <a:p>
                      <a:r>
                        <a:rPr sz="950" b="1" i="0">
                          <a:solidFill>
                            <a:srgbClr val="1F1F1F"/>
                          </a:solidFill>
                        </a:rPr>
                        <a:t>Withdrawal</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Deletes extracted fields and check results, before service is installed</a:t>
                      </a:r>
                    </a:p>
                  </a:txBody>
                  <a:tcPr marL="54864" marR="54864" marT="22860" marB="22860" anchor="ctr">
                    <a:lnL w="0">
                      <a:noFill/>
                    </a:lnL>
                    <a:lnR w="0">
                      <a:noFill/>
                    </a:lnR>
                    <a:lnT w="0">
                      <a:noFill/>
                    </a:lnT>
                    <a:lnB w="6350">
                      <a:solidFill>
                        <a:srgbClr val="D9D9D9"/>
                      </a:solidFill>
                    </a:lnB>
                    <a:solidFill>
                      <a:srgbClr val="FFFFFF"/>
                    </a:solidFill>
                  </a:tcPr>
                </a:tc>
              </a:tr>
              <a:tr h="457200">
                <a:tc>
                  <a:txBody>
                    <a:bodyPr/>
                    <a:lstStyle/>
                    <a:p>
                      <a:r>
                        <a:rPr sz="950" b="1" i="0">
                          <a:solidFill>
                            <a:srgbClr val="1F1F1F"/>
                          </a:solidFill>
                        </a:rPr>
                        <a:t>Masking</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GSTIN, Udyam and ID numbers masked on screens and in logs</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sp>
        <p:nvSpPr>
          <p:cNvPr id="11" name="Gaps card"/>
          <p:cNvSpPr/>
          <p:nvPr/>
        </p:nvSpPr>
        <p:spPr>
          <a:xfrm>
            <a:off x="6172200" y="1792224"/>
            <a:ext cx="2606040" cy="2578608"/>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aps"/>
          <p:cNvSpPr txBox="1"/>
          <p:nvPr/>
        </p:nvSpPr>
        <p:spPr>
          <a:xfrm>
            <a:off x="6281928" y="1847088"/>
            <a:ext cx="2395728" cy="2468880"/>
          </a:xfrm>
          <a:prstGeom prst="rect">
            <a:avLst/>
          </a:prstGeom>
          <a:noFill/>
        </p:spPr>
        <p:txBody>
          <a:bodyPr wrap="square" anchor="ctr" lIns="0" rIns="0" tIns="0" bIns="0">
            <a:spAutoFit/>
          </a:bodyPr>
          <a:lstStyle/>
          <a:p>
            <a:pPr>
              <a:spcAft>
                <a:spcPts val="700"/>
              </a:spcAft>
            </a:pPr>
            <a:r>
              <a:rPr sz="1100" b="1" i="0">
                <a:solidFill>
                  <a:srgbClr val="E40000"/>
                </a:solidFill>
              </a:rPr>
              <a:t>Not built yet</a:t>
            </a:r>
          </a:p>
          <a:p>
            <a:pPr>
              <a:spcAft>
                <a:spcPts val="700"/>
              </a:spcAft>
            </a:pPr>
            <a:r>
              <a:rPr sz="1000" b="0" i="0">
                <a:solidFill>
                  <a:srgbClr val="1F1F1F"/>
                </a:solidFill>
              </a:rPr>
              <a:t>DigiLocker and e-sign</a:t>
            </a:r>
          </a:p>
          <a:p>
            <a:pPr>
              <a:spcAft>
                <a:spcPts val="700"/>
              </a:spcAft>
            </a:pPr>
            <a:r>
              <a:rPr sz="1000" b="0" i="0">
                <a:solidFill>
                  <a:srgbClr val="1F1F1F"/>
                </a:solidFill>
              </a:rPr>
              <a:t>Automatic deletion when retention ends</a:t>
            </a:r>
          </a:p>
          <a:p>
            <a:pPr>
              <a:spcAft>
                <a:spcPts val="700"/>
              </a:spcAft>
            </a:pPr>
            <a:r>
              <a:rPr sz="1100" b="1" i="0">
                <a:solidFill>
                  <a:srgbClr val="E40000"/>
                </a:solidFill>
              </a:rPr>
              <a:t>Mocked</a:t>
            </a:r>
          </a:p>
          <a:p>
            <a:pPr>
              <a:spcAft>
                <a:spcPts val="700"/>
              </a:spcAft>
            </a:pPr>
            <a:r>
              <a:rPr sz="1000" b="0" i="0">
                <a:solidFill>
                  <a:srgbClr val="1F1F1F"/>
                </a:solidFill>
              </a:rPr>
              <a:t>GST and Udyam lookups use the provided data</a:t>
            </a:r>
          </a:p>
          <a:p>
            <a:pPr>
              <a:spcAft>
                <a:spcPts val="700"/>
              </a:spcAft>
            </a:pPr>
            <a:r>
              <a:rPr sz="1100" b="1" i="0">
                <a:solidFill>
                  <a:srgbClr val="E40000"/>
                </a:solidFill>
              </a:rPr>
              <a:t>To fix before pilot</a:t>
            </a:r>
          </a:p>
          <a:p>
            <a:pPr>
              <a:spcAft>
                <a:spcPts val="700"/>
              </a:spcAft>
            </a:pPr>
            <a:r>
              <a:rPr sz="1000" b="0" i="0">
                <a:solidFill>
                  <a:srgbClr val="1F1F1F"/>
                </a:solidFill>
              </a:rPr>
              <a:t>Notice must name Google Gemini; move to a paid or enterprise AI tier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Digital handles simple leads; sales and partners get the ones worth their time</a:t>
            </a:r>
          </a:p>
        </p:txBody>
      </p:sp>
      <p:graphicFrame>
        <p:nvGraphicFramePr>
          <p:cNvPr id="4" name="Routing table"/>
          <p:cNvGraphicFramePr>
            <a:graphicFrameLocks noGrp="1"/>
          </p:cNvGraphicFramePr>
          <p:nvPr/>
        </p:nvGraphicFramePr>
        <p:xfrm>
          <a:off x="365760" y="1042415"/>
          <a:ext cx="3703320" cy="2194560"/>
        </p:xfrm>
        <a:graphic>
          <a:graphicData uri="http://schemas.openxmlformats.org/drawingml/2006/table">
            <a:tbl>
              <a:tblPr firstRow="1" bandRow="0">
                <a:tableStyleId>{2D5ABB26-0587-4C30-8999-92F81FD0307C}</a:tableStyleId>
              </a:tblPr>
              <a:tblGrid>
                <a:gridCol w="1188720"/>
                <a:gridCol w="2514600"/>
              </a:tblGrid>
              <a:tr h="246888">
                <a:tc>
                  <a:txBody>
                    <a:bodyPr/>
                    <a:lstStyle/>
                    <a:p>
                      <a:r>
                        <a:rPr sz="900" b="1" i="0">
                          <a:solidFill>
                            <a:srgbClr val="FFFFFF"/>
                          </a:solidFill>
                        </a:rPr>
                        <a:t>Lead</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900" b="1" i="0">
                          <a:solidFill>
                            <a:srgbClr val="FFFFFF"/>
                          </a:solidFill>
                        </a:rPr>
                        <a:t>Who follows up</a:t>
                      </a:r>
                    </a:p>
                  </a:txBody>
                  <a:tcPr marL="54864" marR="54864" marT="22860" marB="22860" anchor="ctr">
                    <a:lnL w="0">
                      <a:noFill/>
                    </a:lnL>
                    <a:lnR w="0">
                      <a:noFill/>
                    </a:lnR>
                    <a:lnT w="0">
                      <a:noFill/>
                    </a:lnT>
                    <a:lnB w="6350">
                      <a:solidFill>
                        <a:srgbClr val="D9D9D9"/>
                      </a:solidFill>
                    </a:lnB>
                    <a:solidFill>
                      <a:srgbClr val="E40000"/>
                    </a:solidFill>
                  </a:tcPr>
                </a:tc>
              </a:tr>
              <a:tr h="324612">
                <a:tc>
                  <a:txBody>
                    <a:bodyPr/>
                    <a:lstStyle/>
                    <a:p>
                      <a:r>
                        <a:rPr sz="900" b="1" i="0">
                          <a:solidFill>
                            <a:srgbClr val="1F1F1F"/>
                          </a:solidFill>
                        </a:rPr>
                        <a:t>Micro</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Digital reminder; call if Hot. Never a field visit</a:t>
                      </a:r>
                    </a:p>
                  </a:txBody>
                  <a:tcPr marL="54864" marR="54864" marT="22860" marB="22860" anchor="ctr">
                    <a:lnL w="0">
                      <a:noFill/>
                    </a:lnL>
                    <a:lnR w="0">
                      <a:noFill/>
                    </a:lnR>
                    <a:lnT w="0">
                      <a:noFill/>
                    </a:lnT>
                    <a:lnB w="6350">
                      <a:solidFill>
                        <a:srgbClr val="D9D9D9"/>
                      </a:solidFill>
                    </a:lnB>
                    <a:solidFill>
                      <a:srgbClr val="FFFFFF"/>
                    </a:solidFill>
                  </a:tcPr>
                </a:tc>
              </a:tr>
              <a:tr h="324612">
                <a:tc>
                  <a:txBody>
                    <a:bodyPr/>
                    <a:lstStyle/>
                    <a:p>
                      <a:r>
                        <a:rPr sz="900" b="1" i="0">
                          <a:solidFill>
                            <a:srgbClr val="1F1F1F"/>
                          </a:solidFill>
                        </a:rPr>
                        <a:t>Bigger business, Hot</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Channel partner if in the city, else field sales</a:t>
                      </a:r>
                    </a:p>
                  </a:txBody>
                  <a:tcPr marL="54864" marR="54864" marT="22860" marB="22860" anchor="ctr">
                    <a:lnL w="0">
                      <a:noFill/>
                    </a:lnL>
                    <a:lnR w="0">
                      <a:noFill/>
                    </a:lnR>
                    <a:lnT w="0">
                      <a:noFill/>
                    </a:lnT>
                    <a:lnB w="6350">
                      <a:solidFill>
                        <a:srgbClr val="D9D9D9"/>
                      </a:solidFill>
                    </a:lnB>
                    <a:solidFill>
                      <a:srgbClr val="FFFFFF"/>
                    </a:solidFill>
                  </a:tcPr>
                </a:tc>
              </a:tr>
              <a:tr h="324612">
                <a:tc>
                  <a:txBody>
                    <a:bodyPr/>
                    <a:lstStyle/>
                    <a:p>
                      <a:r>
                        <a:rPr sz="900" b="1" i="0">
                          <a:solidFill>
                            <a:srgbClr val="1F1F1F"/>
                          </a:solidFill>
                        </a:rPr>
                        <a:t>Bigger business, Warm</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Inside sales call (Cold: digital reminder)</a:t>
                      </a:r>
                    </a:p>
                  </a:txBody>
                  <a:tcPr marL="54864" marR="54864" marT="22860" marB="22860" anchor="ctr">
                    <a:lnL w="0">
                      <a:noFill/>
                    </a:lnL>
                    <a:lnR w="0">
                      <a:noFill/>
                    </a:lnR>
                    <a:lnT w="0">
                      <a:noFill/>
                    </a:lnT>
                    <a:lnB w="6350">
                      <a:solidFill>
                        <a:srgbClr val="D9D9D9"/>
                      </a:solidFill>
                    </a:lnB>
                    <a:solidFill>
                      <a:srgbClr val="FFFFFF"/>
                    </a:solidFill>
                  </a:tcPr>
                </a:tc>
              </a:tr>
              <a:tr h="324612">
                <a:tc>
                  <a:txBody>
                    <a:bodyPr/>
                    <a:lstStyle/>
                    <a:p>
                      <a:r>
                        <a:rPr sz="900" b="1" i="0">
                          <a:solidFill>
                            <a:srgbClr val="1F1F1F"/>
                          </a:solidFill>
                        </a:rPr>
                        <a:t>Saw a quote and left</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Inside sales call, with the quote</a:t>
                      </a:r>
                    </a:p>
                  </a:txBody>
                  <a:tcPr marL="54864" marR="54864" marT="22860" marB="22860" anchor="ctr">
                    <a:lnL w="0">
                      <a:noFill/>
                    </a:lnL>
                    <a:lnR w="0">
                      <a:noFill/>
                    </a:lnR>
                    <a:lnT w="0">
                      <a:noFill/>
                    </a:lnT>
                    <a:lnB w="6350">
                      <a:solidFill>
                        <a:srgbClr val="D9D9D9"/>
                      </a:solidFill>
                    </a:lnB>
                    <a:solidFill>
                      <a:srgbClr val="FFFFFF"/>
                    </a:solidFill>
                  </a:tcPr>
                </a:tc>
              </a:tr>
              <a:tr h="324612">
                <a:tc>
                  <a:txBody>
                    <a:bodyPr/>
                    <a:lstStyle/>
                    <a:p>
                      <a:r>
                        <a:rPr sz="900" b="1" i="0">
                          <a:solidFill>
                            <a:srgbClr val="1F1F1F"/>
                          </a:solidFill>
                        </a:rPr>
                        <a:t>Stuck in KYC</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Inside sales, with the failed check</a:t>
                      </a:r>
                    </a:p>
                  </a:txBody>
                  <a:tcPr marL="54864" marR="54864" marT="22860" marB="22860" anchor="ctr">
                    <a:lnL w="0">
                      <a:noFill/>
                    </a:lnL>
                    <a:lnR w="0">
                      <a:noFill/>
                    </a:lnR>
                    <a:lnT w="0">
                      <a:noFill/>
                    </a:lnT>
                    <a:lnB w="6350">
                      <a:solidFill>
                        <a:srgbClr val="D9D9D9"/>
                      </a:solidFill>
                    </a:lnB>
                    <a:solidFill>
                      <a:srgbClr val="FFFFFF"/>
                    </a:solidFill>
                  </a:tcPr>
                </a:tc>
              </a:tr>
              <a:tr h="324612">
                <a:tc>
                  <a:txBody>
                    <a:bodyPr/>
                    <a:lstStyle/>
                    <a:p>
                      <a:r>
                        <a:rPr sz="900" b="1" i="0">
                          <a:solidFill>
                            <a:srgbClr val="1F1F1F"/>
                          </a:solidFill>
                        </a:rPr>
                        <a:t>Inactive GSTIN</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00" b="0" i="0">
                          <a:solidFill>
                            <a:srgbClr val="1F1F1F"/>
                          </a:solidFill>
                        </a:rPr>
                        <a:t>Fix GST before anyone visits</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graphicFrame>
        <p:nvGraphicFramePr>
          <p:cNvPr id="5" name="Channel cost table"/>
          <p:cNvGraphicFramePr>
            <a:graphicFrameLocks noGrp="1"/>
          </p:cNvGraphicFramePr>
          <p:nvPr/>
        </p:nvGraphicFramePr>
        <p:xfrm>
          <a:off x="365760" y="3493008"/>
          <a:ext cx="3703320" cy="1014984"/>
        </p:xfrm>
        <a:graphic>
          <a:graphicData uri="http://schemas.openxmlformats.org/drawingml/2006/table">
            <a:tbl>
              <a:tblPr firstRow="1" bandRow="0">
                <a:tableStyleId>{2D5ABB26-0587-4C30-8999-92F81FD0307C}</a:tableStyleId>
              </a:tblPr>
              <a:tblGrid>
                <a:gridCol w="1188720"/>
                <a:gridCol w="822960"/>
                <a:gridCol w="822960"/>
                <a:gridCol w="868680"/>
              </a:tblGrid>
              <a:tr h="246888">
                <a:tc>
                  <a:txBody>
                    <a:bodyPr/>
                    <a:lstStyle/>
                    <a:p>
                      <a:r>
                        <a:rPr sz="900" b="1" i="0">
                          <a:solidFill>
                            <a:srgbClr val="FFFFFF"/>
                          </a:solidFill>
                        </a:rPr>
                        <a:t>Per activation</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900" b="1" i="0">
                          <a:solidFill>
                            <a:srgbClr val="FFFFFF"/>
                          </a:solidFill>
                        </a:rPr>
                        <a:t>All</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900" b="1" i="0">
                          <a:solidFill>
                            <a:srgbClr val="FFFFFF"/>
                          </a:solidFill>
                        </a:rPr>
                        <a:t>Micro</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900" b="1" i="0">
                          <a:solidFill>
                            <a:srgbClr val="FFFFFF"/>
                          </a:solidFill>
                        </a:rPr>
                        <a:t>Multi-site</a:t>
                      </a:r>
                    </a:p>
                  </a:txBody>
                  <a:tcPr marL="54864" marR="54864" marT="22860" marB="22860" anchor="ctr">
                    <a:lnL w="0">
                      <a:noFill/>
                    </a:lnL>
                    <a:lnR w="0">
                      <a:noFill/>
                    </a:lnR>
                    <a:lnT w="0">
                      <a:noFill/>
                    </a:lnT>
                    <a:lnB w="6350">
                      <a:solidFill>
                        <a:srgbClr val="D9D9D9"/>
                      </a:solidFill>
                    </a:lnB>
                    <a:solidFill>
                      <a:srgbClr val="E40000"/>
                    </a:solidFill>
                  </a:tcPr>
                </a:tc>
              </a:tr>
              <a:tr h="256032">
                <a:tc>
                  <a:txBody>
                    <a:bodyPr/>
                    <a:lstStyle/>
                    <a:p>
                      <a:r>
                        <a:rPr sz="900" b="1" i="0">
                          <a:solidFill>
                            <a:srgbClr val="1F1F1F"/>
                          </a:solidFill>
                        </a:rPr>
                        <a:t>Field sales</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₹24,335</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₹53,026</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₹15,921</a:t>
                      </a:r>
                    </a:p>
                  </a:txBody>
                  <a:tcPr marL="54864" marR="54864" marT="22860" marB="22860" anchor="ctr">
                    <a:lnL w="0">
                      <a:noFill/>
                    </a:lnL>
                    <a:lnR w="0">
                      <a:noFill/>
                    </a:lnR>
                    <a:lnT w="0">
                      <a:noFill/>
                    </a:lnT>
                    <a:lnB w="6350">
                      <a:solidFill>
                        <a:srgbClr val="D9D9D9"/>
                      </a:solidFill>
                    </a:lnB>
                    <a:solidFill>
                      <a:srgbClr val="FFFFFF"/>
                    </a:solidFill>
                  </a:tcPr>
                </a:tc>
              </a:tr>
              <a:tr h="256032">
                <a:tc>
                  <a:txBody>
                    <a:bodyPr/>
                    <a:lstStyle/>
                    <a:p>
                      <a:r>
                        <a:rPr sz="900" b="1" i="0">
                          <a:solidFill>
                            <a:srgbClr val="1F1F1F"/>
                          </a:solidFill>
                        </a:rPr>
                        <a:t>Channel partner</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₹20,851</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₹11,382</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₹42,149</a:t>
                      </a:r>
                    </a:p>
                  </a:txBody>
                  <a:tcPr marL="54864" marR="54864" marT="22860" marB="22860" anchor="ctr">
                    <a:lnL w="0">
                      <a:noFill/>
                    </a:lnL>
                    <a:lnR w="0">
                      <a:noFill/>
                    </a:lnR>
                    <a:lnT w="0">
                      <a:noFill/>
                    </a:lnT>
                    <a:lnB w="6350">
                      <a:solidFill>
                        <a:srgbClr val="D9D9D9"/>
                      </a:solidFill>
                    </a:lnB>
                    <a:solidFill>
                      <a:srgbClr val="FFFFFF"/>
                    </a:solidFill>
                  </a:tcPr>
                </a:tc>
              </a:tr>
              <a:tr h="256032">
                <a:tc>
                  <a:txBody>
                    <a:bodyPr/>
                    <a:lstStyle/>
                    <a:p>
                      <a:r>
                        <a:rPr sz="900" b="1" i="0">
                          <a:solidFill>
                            <a:srgbClr val="1F1F1F"/>
                          </a:solidFill>
                        </a:rPr>
                        <a:t>Website form</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₹6,352</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₹13,124</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900" b="0" i="0">
                          <a:solidFill>
                            <a:srgbClr val="1F1F1F"/>
                          </a:solidFill>
                        </a:rPr>
                        <a:t>₹4,189</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pic>
        <p:nvPicPr>
          <p:cNvPr id="6" name="Picture 5" descr="Back-office lead detail: score, reasons, failed KYC check and suggested action, with the business name masked"/>
          <p:cNvPicPr>
            <a:picLocks noChangeAspect="1"/>
          </p:cNvPicPr>
          <p:nvPr/>
        </p:nvPicPr>
        <p:blipFill>
          <a:blip r:embed="rId4"/>
          <a:stretch>
            <a:fillRect/>
          </a:stretch>
        </p:blipFill>
        <p:spPr>
          <a:xfrm>
            <a:off x="4206240" y="1042415"/>
            <a:ext cx="4572000" cy="2851785"/>
          </a:xfrm>
          <a:prstGeom prst="rect">
            <a:avLst/>
          </a:prstGeom>
          <a:ln w="9525">
            <a:solidFill>
              <a:srgbClr val="D9D9D9"/>
            </a:solidFill>
          </a:ln>
        </p:spPr>
      </p:pic>
      <p:sp>
        <p:nvSpPr>
          <p:cNvPr id="7" name="Back-office caption"/>
          <p:cNvSpPr txBox="1"/>
          <p:nvPr/>
        </p:nvSpPr>
        <p:spPr>
          <a:xfrm>
            <a:off x="4206240" y="3930777"/>
            <a:ext cx="4572000" cy="182880"/>
          </a:xfrm>
          <a:prstGeom prst="rect">
            <a:avLst/>
          </a:prstGeom>
          <a:noFill/>
        </p:spPr>
        <p:txBody>
          <a:bodyPr wrap="square" anchor="t" lIns="0" rIns="0" tIns="0" bIns="0">
            <a:spAutoFit/>
          </a:bodyPr>
          <a:lstStyle/>
          <a:p>
            <a:pPr>
              <a:spcAft>
                <a:spcPts val="300"/>
              </a:spcAft>
            </a:pPr>
            <a:r>
              <a:rPr sz="900" b="0" i="0">
                <a:solidFill>
                  <a:srgbClr val="595959"/>
                </a:solidFill>
              </a:rPr>
              <a:t>Back-office: score, reasons, failed check, suggested action. Names are masked.</a:t>
            </a:r>
          </a:p>
        </p:txBody>
      </p:sp>
      <p:sp>
        <p:nvSpPr>
          <p:cNvPr id="8" name="Score card"/>
          <p:cNvSpPr/>
          <p:nvPr/>
        </p:nvSpPr>
        <p:spPr>
          <a:xfrm>
            <a:off x="4206240" y="4087368"/>
            <a:ext cx="4572000" cy="566928"/>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core summary"/>
          <p:cNvSpPr txBox="1"/>
          <p:nvPr/>
        </p:nvSpPr>
        <p:spPr>
          <a:xfrm>
            <a:off x="4297680" y="4105656"/>
            <a:ext cx="4389120" cy="530352"/>
          </a:xfrm>
          <a:prstGeom prst="rect">
            <a:avLst/>
          </a:prstGeom>
          <a:noFill/>
        </p:spPr>
        <p:txBody>
          <a:bodyPr wrap="square" anchor="ctr" lIns="0" rIns="0" tIns="0" bIns="0">
            <a:spAutoFit/>
          </a:bodyPr>
          <a:lstStyle/>
          <a:p>
            <a:pPr>
              <a:spcAft>
                <a:spcPts val="100"/>
              </a:spcAft>
            </a:pPr>
            <a:r>
              <a:rPr sz="950" b="1" i="0">
                <a:solidFill>
                  <a:srgbClr val="E40000"/>
                </a:solidFill>
              </a:rPr>
              <a:t>Top 20% of leads by score hold 37.5% of activations</a:t>
            </a:r>
            <a:r>
              <a:rPr sz="950" b="0" i="0">
                <a:solidFill>
                  <a:srgbClr val="1F1F1F"/>
                </a:solidFill>
              </a:rPr>
              <a:t> (AUC 0.699). Hot means this top 20%.</a:t>
            </a:r>
          </a:p>
          <a:p>
            <a:pPr>
              <a:spcAft>
                <a:spcPts val="100"/>
              </a:spcAft>
            </a:pPr>
            <a:r>
              <a:rPr sz="950" b="0" i="0">
                <a:solidFill>
                  <a:srgbClr val="1F1F1F"/>
                </a:solidFill>
              </a:rPr>
              <a:t>Gap: no phone number collected yet. Partner cost on multi-site needs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Five metrics to judge the pilot: baselines from data, targets are our proposal</a:t>
            </a:r>
          </a:p>
        </p:txBody>
      </p:sp>
      <p:graphicFrame>
        <p:nvGraphicFramePr>
          <p:cNvPr id="4" name="Metrics table"/>
          <p:cNvGraphicFramePr>
            <a:graphicFrameLocks noGrp="1"/>
          </p:cNvGraphicFramePr>
          <p:nvPr/>
        </p:nvGraphicFramePr>
        <p:xfrm>
          <a:off x="365760" y="1042415"/>
          <a:ext cx="8412480" cy="2194560"/>
        </p:xfrm>
        <a:graphic>
          <a:graphicData uri="http://schemas.openxmlformats.org/drawingml/2006/table">
            <a:tbl>
              <a:tblPr firstRow="1" bandRow="0">
                <a:tableStyleId>{2D5ABB26-0587-4C30-8999-92F81FD0307C}</a:tableStyleId>
              </a:tblPr>
              <a:tblGrid>
                <a:gridCol w="1737360"/>
                <a:gridCol w="777240"/>
                <a:gridCol w="960120"/>
                <a:gridCol w="4937760"/>
              </a:tblGrid>
              <a:tr h="274320">
                <a:tc>
                  <a:txBody>
                    <a:bodyPr/>
                    <a:lstStyle/>
                    <a:p>
                      <a:r>
                        <a:rPr sz="1000" b="1" i="0">
                          <a:solidFill>
                            <a:srgbClr val="FFFFFF"/>
                          </a:solidFill>
                        </a:rPr>
                        <a:t>Metric</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1000" b="1" i="0">
                          <a:solidFill>
                            <a:srgbClr val="FFFFFF"/>
                          </a:solidFill>
                        </a:rPr>
                        <a:t>Today</a:t>
                      </a:r>
                    </a:p>
                  </a:txBody>
                  <a:tcPr marL="54864" marR="54864" marT="22860" marB="22860" anchor="ctr">
                    <a:lnL w="0">
                      <a:noFill/>
                    </a:lnL>
                    <a:lnR w="0">
                      <a:noFill/>
                    </a:lnR>
                    <a:lnT w="0">
                      <a:noFill/>
                    </a:lnT>
                    <a:lnB w="6350">
                      <a:solidFill>
                        <a:srgbClr val="D9D9D9"/>
                      </a:solidFill>
                    </a:lnB>
                    <a:solidFill>
                      <a:srgbClr val="E40000"/>
                    </a:solidFill>
                  </a:tcPr>
                </a:tc>
                <a:tc>
                  <a:txBody>
                    <a:bodyPr/>
                    <a:lstStyle/>
                    <a:p>
                      <a:pPr algn="ctr"/>
                      <a:r>
                        <a:rPr sz="1000" b="1" i="0">
                          <a:solidFill>
                            <a:srgbClr val="FFFFFF"/>
                          </a:solidFill>
                        </a:rPr>
                        <a:t>Target</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1000" b="1" i="0">
                          <a:solidFill>
                            <a:srgbClr val="FFFFFF"/>
                          </a:solidFill>
                        </a:rPr>
                        <a:t>Why this target</a:t>
                      </a:r>
                    </a:p>
                  </a:txBody>
                  <a:tcPr marL="54864" marR="54864" marT="22860" marB="22860" anchor="ctr">
                    <a:lnL w="0">
                      <a:noFill/>
                    </a:lnL>
                    <a:lnR w="0">
                      <a:noFill/>
                    </a:lnR>
                    <a:lnT w="0">
                      <a:noFill/>
                    </a:lnT>
                    <a:lnB w="6350">
                      <a:solidFill>
                        <a:srgbClr val="D9D9D9"/>
                      </a:solidFill>
                    </a:lnB>
                    <a:solidFill>
                      <a:srgbClr val="E40000"/>
                    </a:solidFill>
                  </a:tcPr>
                </a:tc>
              </a:tr>
              <a:tr h="384048">
                <a:tc>
                  <a:txBody>
                    <a:bodyPr/>
                    <a:lstStyle/>
                    <a:p>
                      <a:r>
                        <a:rPr sz="1000" b="1" i="0">
                          <a:solidFill>
                            <a:srgbClr val="1F1F1F"/>
                          </a:solidFill>
                        </a:rPr>
                        <a:t>Lead to activation</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7.4%</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11%</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ASSUMPTION: win back half of 1,291 process-lost leads, about 184 more activations</a:t>
                      </a:r>
                    </a:p>
                  </a:txBody>
                  <a:tcPr marL="54864" marR="54864" marT="22860" marB="22860" anchor="ctr">
                    <a:lnL w="0">
                      <a:noFill/>
                    </a:lnL>
                    <a:lnR w="0">
                      <a:noFill/>
                    </a:lnR>
                    <a:lnT w="0">
                      <a:noFill/>
                    </a:lnT>
                    <a:lnB w="6350">
                      <a:solidFill>
                        <a:srgbClr val="D9D9D9"/>
                      </a:solidFill>
                    </a:lnB>
                    <a:solidFill>
                      <a:srgbClr val="FFFFFF"/>
                    </a:solidFill>
                  </a:tcPr>
                </a:tc>
              </a:tr>
              <a:tr h="384048">
                <a:tc>
                  <a:txBody>
                    <a:bodyPr/>
                    <a:lstStyle/>
                    <a:p>
                      <a:r>
                        <a:rPr sz="1000" b="1" i="0">
                          <a:solidFill>
                            <a:srgbClr val="1F1F1F"/>
                          </a:solidFill>
                        </a:rPr>
                        <a:t>Time to activate</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17.6 days</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10 days</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Quote and KYC in one sitting; catalogue fibre install is 5 days, plus buffer</a:t>
                      </a:r>
                    </a:p>
                  </a:txBody>
                  <a:tcPr marL="54864" marR="54864" marT="22860" marB="22860" anchor="ctr">
                    <a:lnL w="0">
                      <a:noFill/>
                    </a:lnL>
                    <a:lnR w="0">
                      <a:noFill/>
                    </a:lnR>
                    <a:lnT w="0">
                      <a:noFill/>
                    </a:lnT>
                    <a:lnB w="6350">
                      <a:solidFill>
                        <a:srgbClr val="D9D9D9"/>
                      </a:solidFill>
                    </a:lnB>
                    <a:solidFill>
                      <a:srgbClr val="FFFFFF"/>
                    </a:solidFill>
                  </a:tcPr>
                </a:tc>
              </a:tr>
              <a:tr h="384048">
                <a:tc>
                  <a:txBody>
                    <a:bodyPr/>
                    <a:lstStyle/>
                    <a:p>
                      <a:r>
                        <a:rPr sz="1000" b="1" i="0">
                          <a:solidFill>
                            <a:srgbClr val="1F1F1F"/>
                          </a:solidFill>
                        </a:rPr>
                        <a:t>Cost per activation</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₹15,053</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Under ₹10,000</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Stop ₹14.3 lakh of Micro field spend; about ₹7,825 before AI and support costs</a:t>
                      </a:r>
                    </a:p>
                  </a:txBody>
                  <a:tcPr marL="54864" marR="54864" marT="22860" marB="22860" anchor="ctr">
                    <a:lnL w="0">
                      <a:noFill/>
                    </a:lnL>
                    <a:lnR w="0">
                      <a:noFill/>
                    </a:lnR>
                    <a:lnT w="0">
                      <a:noFill/>
                    </a:lnT>
                    <a:lnB w="6350">
                      <a:solidFill>
                        <a:srgbClr val="D9D9D9"/>
                      </a:solidFill>
                    </a:lnB>
                    <a:solidFill>
                      <a:srgbClr val="FFFFFF"/>
                    </a:solidFill>
                  </a:tcPr>
                </a:tc>
              </a:tr>
              <a:tr h="384048">
                <a:tc>
                  <a:txBody>
                    <a:bodyPr/>
                    <a:lstStyle/>
                    <a:p>
                      <a:r>
                        <a:rPr sz="1000" b="1" i="0">
                          <a:solidFill>
                            <a:srgbClr val="1F1F1F"/>
                          </a:solidFill>
                        </a:rPr>
                        <a:t>Status calls per customer</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3.0</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1</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Tracker replaces chasing; customers with 0-1 calls give the best NPS, 7.5</a:t>
                      </a:r>
                    </a:p>
                  </a:txBody>
                  <a:tcPr marL="54864" marR="54864" marT="22860" marB="22860" anchor="ctr">
                    <a:lnL w="0">
                      <a:noFill/>
                    </a:lnL>
                    <a:lnR w="0">
                      <a:noFill/>
                    </a:lnR>
                    <a:lnT w="0">
                      <a:noFill/>
                    </a:lnT>
                    <a:lnB w="6350">
                      <a:solidFill>
                        <a:srgbClr val="D9D9D9"/>
                      </a:solidFill>
                    </a:lnB>
                    <a:solidFill>
                      <a:srgbClr val="FFFFFF"/>
                    </a:solidFill>
                  </a:tcPr>
                </a:tc>
              </a:tr>
              <a:tr h="384048">
                <a:tc>
                  <a:txBody>
                    <a:bodyPr/>
                    <a:lstStyle/>
                    <a:p>
                      <a:r>
                        <a:rPr sz="1000" b="1" i="0">
                          <a:solidFill>
                            <a:srgbClr val="1F1F1F"/>
                          </a:solidFill>
                        </a:rPr>
                        <a:t>6-month churn</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15.2%</a:t>
                      </a:r>
                    </a:p>
                  </a:txBody>
                  <a:tcPr marL="54864" marR="54864" marT="22860" marB="22860" anchor="ctr">
                    <a:lnL w="0">
                      <a:noFill/>
                    </a:lnL>
                    <a:lnR w="0">
                      <a:noFill/>
                    </a:lnR>
                    <a:lnT w="0">
                      <a:noFill/>
                    </a:lnT>
                    <a:lnB w="6350">
                      <a:solidFill>
                        <a:srgbClr val="D9D9D9"/>
                      </a:solidFill>
                    </a:lnB>
                    <a:solidFill>
                      <a:srgbClr val="FFFFFF"/>
                    </a:solidFill>
                  </a:tcPr>
                </a:tc>
                <a:tc>
                  <a:txBody>
                    <a:bodyPr/>
                    <a:lstStyle/>
                    <a:p>
                      <a:pPr algn="ctr"/>
                      <a:r>
                        <a:rPr sz="1000" b="0" i="0">
                          <a:solidFill>
                            <a:srgbClr val="1F1F1F"/>
                          </a:solidFill>
                        </a:rPr>
                        <a:t>12%</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1000" b="0" i="0">
                          <a:solidFill>
                            <a:srgbClr val="1F1F1F"/>
                          </a:solidFill>
                        </a:rPr>
                        <a:t>Customers with 2-3 calls churn 13%; no more rule-breaking sales</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sp>
        <p:nvSpPr>
          <p:cNvPr id="5" name="Value to Accel card"/>
          <p:cNvSpPr/>
          <p:nvPr/>
        </p:nvSpPr>
        <p:spPr>
          <a:xfrm>
            <a:off x="365760" y="3493008"/>
            <a:ext cx="4114800" cy="109728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Value to Accel"/>
          <p:cNvSpPr txBox="1"/>
          <p:nvPr/>
        </p:nvSpPr>
        <p:spPr>
          <a:xfrm>
            <a:off x="475488" y="3529584"/>
            <a:ext cx="3895344" cy="1024128"/>
          </a:xfrm>
          <a:prstGeom prst="rect">
            <a:avLst/>
          </a:prstGeom>
          <a:noFill/>
        </p:spPr>
        <p:txBody>
          <a:bodyPr wrap="square" anchor="ctr" lIns="0" rIns="0" tIns="0" bIns="0">
            <a:spAutoFit/>
          </a:bodyPr>
          <a:lstStyle/>
          <a:p>
            <a:pPr>
              <a:spcAft>
                <a:spcPts val="100"/>
              </a:spcAft>
            </a:pPr>
            <a:r>
              <a:rPr sz="1100" b="1" i="0">
                <a:solidFill>
                  <a:srgbClr val="E40000"/>
                </a:solidFill>
              </a:rPr>
              <a:t>Value for Accel Business, per quarter</a:t>
            </a:r>
          </a:p>
          <a:p>
            <a:pPr>
              <a:spcAft>
                <a:spcPts val="100"/>
              </a:spcAft>
            </a:pPr>
            <a:r>
              <a:rPr sz="1000" b="0" i="0">
                <a:solidFill>
                  <a:srgbClr val="1F1F1F"/>
                </a:solidFill>
              </a:rPr>
              <a:t>₹14.3 lakh saved on Micro field visits</a:t>
            </a:r>
          </a:p>
          <a:p>
            <a:pPr>
              <a:spcAft>
                <a:spcPts val="100"/>
              </a:spcAft>
            </a:pPr>
            <a:r>
              <a:rPr sz="1000" b="0" i="0">
                <a:solidFill>
                  <a:srgbClr val="1F1F1F"/>
                </a:solidFill>
              </a:rPr>
              <a:t>About 184 more activations (ASSUMPTION)</a:t>
            </a:r>
          </a:p>
          <a:p>
            <a:pPr>
              <a:spcAft>
                <a:spcPts val="100"/>
              </a:spcAft>
            </a:pPr>
            <a:r>
              <a:rPr sz="1000" b="0" i="0">
                <a:solidFill>
                  <a:srgbClr val="1F1F1F"/>
                </a:solidFill>
              </a:rPr>
              <a:t>Those add about ₹12.7 lakh a month, at the ₹6,900 median bundle (ASSUMPTION)</a:t>
            </a:r>
          </a:p>
        </p:txBody>
      </p:sp>
      <p:sp>
        <p:nvSpPr>
          <p:cNvPr id="7" name="Value to owner card"/>
          <p:cNvSpPr/>
          <p:nvPr/>
        </p:nvSpPr>
        <p:spPr>
          <a:xfrm>
            <a:off x="4663440" y="3493008"/>
            <a:ext cx="4114800" cy="1097280"/>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alue to owner"/>
          <p:cNvSpPr txBox="1"/>
          <p:nvPr/>
        </p:nvSpPr>
        <p:spPr>
          <a:xfrm>
            <a:off x="4773168" y="3529584"/>
            <a:ext cx="3895344" cy="1024128"/>
          </a:xfrm>
          <a:prstGeom prst="rect">
            <a:avLst/>
          </a:prstGeom>
          <a:noFill/>
        </p:spPr>
        <p:txBody>
          <a:bodyPr wrap="square" anchor="ctr" lIns="0" rIns="0" tIns="0" bIns="0">
            <a:spAutoFit/>
          </a:bodyPr>
          <a:lstStyle/>
          <a:p>
            <a:pPr>
              <a:spcAft>
                <a:spcPts val="100"/>
              </a:spcAft>
            </a:pPr>
            <a:r>
              <a:rPr sz="1100" b="1" i="0">
                <a:solidFill>
                  <a:srgbClr val="E40000"/>
                </a:solidFill>
              </a:rPr>
              <a:t>Value for the owner</a:t>
            </a:r>
          </a:p>
          <a:p>
            <a:pPr>
              <a:spcAft>
                <a:spcPts val="100"/>
              </a:spcAft>
            </a:pPr>
            <a:r>
              <a:rPr sz="1000" b="0" i="0">
                <a:solidFill>
                  <a:srgbClr val="1F1F1F"/>
                </a:solidFill>
              </a:rPr>
              <a:t>A quote in the chat, instead of 3-5 days as a PDF</a:t>
            </a:r>
          </a:p>
          <a:p>
            <a:pPr>
              <a:spcAft>
                <a:spcPts val="100"/>
              </a:spcAft>
            </a:pPr>
            <a:r>
              <a:rPr sz="1000" b="0" i="0">
                <a:solidFill>
                  <a:srgbClr val="1F1F1F"/>
                </a:solidFill>
              </a:rPr>
              <a:t>One price and plain reasons, not product codes</a:t>
            </a:r>
          </a:p>
          <a:p>
            <a:pPr>
              <a:spcAft>
                <a:spcPts val="100"/>
              </a:spcAft>
            </a:pPr>
            <a:r>
              <a:rPr sz="1000" b="0" i="0">
                <a:solidFill>
                  <a:srgbClr val="1F1F1F"/>
                </a:solidFill>
              </a:rPr>
              <a:t>Status on the phone, instead of calling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Template background" descr="Template background with event logos"/>
          <p:cNvPicPr>
            <a:picLocks noChangeAspect="1"/>
          </p:cNvPicPr>
          <p:nvPr/>
        </p:nvPicPr>
        <p:blipFill>
          <a:blip r:embed="rId2"/>
          <a:stretch>
            <a:fillRect/>
          </a:stretch>
        </p:blipFill>
        <p:spPr>
          <a:xfrm>
            <a:off x="0" y="0"/>
            <a:ext cx="9144000" cy="5143500"/>
          </a:xfrm>
          <a:prstGeom prst="rect">
            <a:avLst/>
          </a:prstGeom>
        </p:spPr>
      </p:pic>
      <p:sp>
        <p:nvSpPr>
          <p:cNvPr id="2" name="Title 1"/>
          <p:cNvSpPr>
            <a:spLocks noGrp="1"/>
          </p:cNvSpPr>
          <p:nvPr>
            <p:ph type="title"/>
          </p:nvPr>
        </p:nvSpPr>
        <p:spPr>
          <a:xfrm>
            <a:off x="365760" y="603504"/>
            <a:ext cx="8412480" cy="384048"/>
          </a:xfrm>
        </p:spPr>
        <p:txBody>
          <a:bodyPr wrap="square" anchor="ctr" lIns="0" rIns="0" tIns="0" bIns="0"/>
          <a:lstStyle/>
          <a:p>
            <a:pPr algn="l"/>
            <a:r>
              <a:rPr sz="1700" b="1" i="0">
                <a:solidFill>
                  <a:srgbClr val="E40000"/>
                </a:solidFill>
              </a:rPr>
              <a:t>Roll out in three gated steps, and close the known gaps first</a:t>
            </a:r>
          </a:p>
        </p:txBody>
      </p:sp>
      <p:sp>
        <p:nvSpPr>
          <p:cNvPr id="4" name="Phase 1 card"/>
          <p:cNvSpPr/>
          <p:nvPr/>
        </p:nvSpPr>
        <p:spPr>
          <a:xfrm>
            <a:off x="365760" y="1042415"/>
            <a:ext cx="3566160" cy="1097280"/>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hase 1"/>
          <p:cNvSpPr txBox="1"/>
          <p:nvPr/>
        </p:nvSpPr>
        <p:spPr>
          <a:xfrm>
            <a:off x="475488" y="1088136"/>
            <a:ext cx="3346704" cy="1005840"/>
          </a:xfrm>
          <a:prstGeom prst="rect">
            <a:avLst/>
          </a:prstGeom>
          <a:noFill/>
        </p:spPr>
        <p:txBody>
          <a:bodyPr wrap="square" anchor="ctr" lIns="0" rIns="0" tIns="0" bIns="0">
            <a:spAutoFit/>
          </a:bodyPr>
          <a:lstStyle/>
          <a:p>
            <a:pPr>
              <a:spcAft>
                <a:spcPts val="200"/>
              </a:spcAft>
            </a:pPr>
            <a:r>
              <a:rPr sz="1100" b="1" i="0">
                <a:solidFill>
                  <a:srgbClr val="E40000"/>
                </a:solidFill>
              </a:rPr>
              <a:t>1. Close the gaps</a:t>
            </a:r>
            <a:r>
              <a:rPr sz="950" b="0" i="0">
                <a:solidFill>
                  <a:srgbClr val="595959"/>
                </a:solidFill>
              </a:rPr>
              <a:t>  |  about 4 weeks</a:t>
            </a:r>
          </a:p>
          <a:p>
            <a:pPr>
              <a:spcAft>
                <a:spcPts val="200"/>
              </a:spcAft>
            </a:pPr>
            <a:r>
              <a:rPr sz="1000" b="0" i="0">
                <a:solidFill>
                  <a:srgbClr val="1F1F1F"/>
                </a:solidFill>
              </a:rPr>
              <a:t>Finish 12 advisor scenarios and all KYC on real Gemini</a:t>
            </a:r>
          </a:p>
          <a:p>
            <a:pPr>
              <a:spcAft>
                <a:spcPts val="200"/>
              </a:spcAft>
            </a:pPr>
            <a:r>
              <a:rPr sz="1000" b="0" i="0">
                <a:solidFill>
                  <a:srgbClr val="1F1F1F"/>
                </a:solidFill>
              </a:rPr>
              <a:t>Fix consent wording; add phone number and staff login</a:t>
            </a:r>
          </a:p>
        </p:txBody>
      </p:sp>
      <p:sp>
        <p:nvSpPr>
          <p:cNvPr id="6" name="Phase 2 card"/>
          <p:cNvSpPr/>
          <p:nvPr/>
        </p:nvSpPr>
        <p:spPr>
          <a:xfrm>
            <a:off x="365760" y="2231136"/>
            <a:ext cx="3566160" cy="1097280"/>
          </a:xfrm>
          <a:prstGeom prst="roundRect">
            <a:avLst>
              <a:gd name="adj" fmla="val 6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hase 2"/>
          <p:cNvSpPr txBox="1"/>
          <p:nvPr/>
        </p:nvSpPr>
        <p:spPr>
          <a:xfrm>
            <a:off x="475488" y="2276856"/>
            <a:ext cx="3346704" cy="1005840"/>
          </a:xfrm>
          <a:prstGeom prst="rect">
            <a:avLst/>
          </a:prstGeom>
          <a:noFill/>
        </p:spPr>
        <p:txBody>
          <a:bodyPr wrap="square" anchor="ctr" lIns="0" rIns="0" tIns="0" bIns="0">
            <a:spAutoFit/>
          </a:bodyPr>
          <a:lstStyle/>
          <a:p>
            <a:pPr>
              <a:spcAft>
                <a:spcPts val="200"/>
              </a:spcAft>
            </a:pPr>
            <a:r>
              <a:rPr sz="1100" b="1" i="0">
                <a:solidFill>
                  <a:srgbClr val="E40000"/>
                </a:solidFill>
              </a:rPr>
              <a:t>2. Pilot</a:t>
            </a:r>
            <a:r>
              <a:rPr sz="950" b="0" i="0">
                <a:solidFill>
                  <a:srgbClr val="595959"/>
                </a:solidFill>
              </a:rPr>
              <a:t>  |  about 3 months</a:t>
            </a:r>
          </a:p>
          <a:p>
            <a:pPr>
              <a:spcAft>
                <a:spcPts val="200"/>
              </a:spcAft>
            </a:pPr>
            <a:r>
              <a:rPr sz="1000" b="0" i="0">
                <a:solidFill>
                  <a:srgbClr val="1F1F1F"/>
                </a:solidFill>
              </a:rPr>
              <a:t>Professional offices and Micro, tier 1, English and Hindi</a:t>
            </a:r>
          </a:p>
          <a:p>
            <a:pPr>
              <a:spcAft>
                <a:spcPts val="200"/>
              </a:spcAft>
            </a:pPr>
            <a:r>
              <a:rPr sz="1000" b="0" i="0">
                <a:solidFill>
                  <a:srgbClr val="1F1F1F"/>
                </a:solidFill>
              </a:rPr>
              <a:t>Gate: the five targets on the previous slide</a:t>
            </a:r>
          </a:p>
        </p:txBody>
      </p:sp>
      <p:sp>
        <p:nvSpPr>
          <p:cNvPr id="8" name="Phase 3 card"/>
          <p:cNvSpPr/>
          <p:nvPr/>
        </p:nvSpPr>
        <p:spPr>
          <a:xfrm>
            <a:off x="365760" y="3419856"/>
            <a:ext cx="3566160" cy="1097280"/>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hase 3"/>
          <p:cNvSpPr txBox="1"/>
          <p:nvPr/>
        </p:nvSpPr>
        <p:spPr>
          <a:xfrm>
            <a:off x="475488" y="3465576"/>
            <a:ext cx="3346704" cy="1005840"/>
          </a:xfrm>
          <a:prstGeom prst="rect">
            <a:avLst/>
          </a:prstGeom>
          <a:noFill/>
        </p:spPr>
        <p:txBody>
          <a:bodyPr wrap="square" anchor="ctr" lIns="0" rIns="0" tIns="0" bIns="0">
            <a:spAutoFit/>
          </a:bodyPr>
          <a:lstStyle/>
          <a:p>
            <a:pPr>
              <a:spcAft>
                <a:spcPts val="200"/>
              </a:spcAft>
            </a:pPr>
            <a:r>
              <a:rPr sz="1100" b="1" i="0">
                <a:solidFill>
                  <a:srgbClr val="E40000"/>
                </a:solidFill>
              </a:rPr>
              <a:t>3. Scale</a:t>
            </a:r>
            <a:r>
              <a:rPr sz="950" b="0" i="0">
                <a:solidFill>
                  <a:srgbClr val="595959"/>
                </a:solidFill>
              </a:rPr>
              <a:t>  |  after the gate</a:t>
            </a:r>
          </a:p>
          <a:p>
            <a:pPr>
              <a:spcAft>
                <a:spcPts val="200"/>
              </a:spcAft>
            </a:pPr>
            <a:r>
              <a:rPr sz="1000" b="0" i="0">
                <a:solidFill>
                  <a:srgbClr val="1F1F1F"/>
                </a:solidFill>
              </a:rPr>
              <a:t>Tier 2; multi-site and factories with sales help</a:t>
            </a:r>
          </a:p>
          <a:p>
            <a:pPr>
              <a:spcAft>
                <a:spcPts val="200"/>
              </a:spcAft>
            </a:pPr>
            <a:r>
              <a:rPr sz="1000" b="0" i="0">
                <a:solidFill>
                  <a:srgbClr val="1F1F1F"/>
                </a:solidFill>
              </a:rPr>
              <a:t>Regional languages, WhatsApp, DigiLocker, e-sign</a:t>
            </a:r>
          </a:p>
        </p:txBody>
      </p:sp>
      <p:graphicFrame>
        <p:nvGraphicFramePr>
          <p:cNvPr id="10" name="Risks table"/>
          <p:cNvGraphicFramePr>
            <a:graphicFrameLocks noGrp="1"/>
          </p:cNvGraphicFramePr>
          <p:nvPr/>
        </p:nvGraphicFramePr>
        <p:xfrm>
          <a:off x="4114800" y="1042415"/>
          <a:ext cx="4663439" cy="3401562"/>
        </p:xfrm>
        <a:graphic>
          <a:graphicData uri="http://schemas.openxmlformats.org/drawingml/2006/table">
            <a:tbl>
              <a:tblPr firstRow="1" bandRow="0">
                <a:tableStyleId>{2D5ABB26-0587-4C30-8999-92F81FD0307C}</a:tableStyleId>
              </a:tblPr>
              <a:tblGrid>
                <a:gridCol w="1874519"/>
                <a:gridCol w="2788920"/>
              </a:tblGrid>
              <a:tr h="274320">
                <a:tc>
                  <a:txBody>
                    <a:bodyPr/>
                    <a:lstStyle/>
                    <a:p>
                      <a:r>
                        <a:rPr sz="950" b="1" i="0">
                          <a:solidFill>
                            <a:srgbClr val="FFFFFF"/>
                          </a:solidFill>
                        </a:rPr>
                        <a:t>Risk</a:t>
                      </a:r>
                    </a:p>
                  </a:txBody>
                  <a:tcPr marL="54864" marR="54864" marT="22860" marB="22860" anchor="ctr">
                    <a:lnL w="0">
                      <a:noFill/>
                    </a:lnL>
                    <a:lnR w="0">
                      <a:noFill/>
                    </a:lnR>
                    <a:lnT w="0">
                      <a:noFill/>
                    </a:lnT>
                    <a:lnB w="6350">
                      <a:solidFill>
                        <a:srgbClr val="D9D9D9"/>
                      </a:solidFill>
                    </a:lnB>
                    <a:solidFill>
                      <a:srgbClr val="E40000"/>
                    </a:solidFill>
                  </a:tcPr>
                </a:tc>
                <a:tc>
                  <a:txBody>
                    <a:bodyPr/>
                    <a:lstStyle/>
                    <a:p>
                      <a:r>
                        <a:rPr sz="950" b="1" i="0">
                          <a:solidFill>
                            <a:srgbClr val="FFFFFF"/>
                          </a:solidFill>
                        </a:rPr>
                        <a:t>How we handle it</a:t>
                      </a:r>
                    </a:p>
                  </a:txBody>
                  <a:tcPr marL="54864" marR="54864" marT="22860" marB="22860" anchor="ctr">
                    <a:lnL w="0">
                      <a:noFill/>
                    </a:lnL>
                    <a:lnR w="0">
                      <a:noFill/>
                    </a:lnR>
                    <a:lnT w="0">
                      <a:noFill/>
                    </a:lnT>
                    <a:lnB w="6350">
                      <a:solidFill>
                        <a:srgbClr val="D9D9D9"/>
                      </a:solidFill>
                    </a:lnB>
                    <a:solidFill>
                      <a:srgbClr val="E40000"/>
                    </a:solidFill>
                  </a:tcPr>
                </a:tc>
              </a:tr>
              <a:tr h="521207">
                <a:tc>
                  <a:txBody>
                    <a:bodyPr/>
                    <a:lstStyle/>
                    <a:p>
                      <a:r>
                        <a:rPr sz="950" b="1" i="0">
                          <a:solidFill>
                            <a:srgbClr val="1F1F1F"/>
                          </a:solidFill>
                        </a:rPr>
                        <a:t>AI misreads a document</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17 checks and registry comparison; a failed check stops the order</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950" b="1" i="0">
                          <a:solidFill>
                            <a:srgbClr val="1F1F1F"/>
                          </a:solidFill>
                        </a:rPr>
                        <a:t>AI model is withdrawn</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Models are settings, not code; newer models tested for new keys</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950" b="1" i="0">
                          <a:solidFill>
                            <a:srgbClr val="1F1F1F"/>
                          </a:solidFill>
                        </a:rPr>
                        <a:t>Customer data reaches an outside AI</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Paid or enterprise tier; name it in the notice; keep only needed fields</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950" b="1" i="0">
                          <a:solidFill>
                            <a:srgbClr val="1F1F1F"/>
                          </a:solidFill>
                        </a:rPr>
                        <a:t>Tier 2 orders drop after KYC (51.8% vs 72.7% activate)</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Check site early; show holds; pilot tier 1 first</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950" b="1" i="0">
                          <a:solidFill>
                            <a:srgbClr val="1F1F1F"/>
                          </a:solidFill>
                        </a:rPr>
                        <a:t>Bundle costs more than today's spend</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Test price in pilot; show what each item is for</a:t>
                      </a:r>
                    </a:p>
                  </a:txBody>
                  <a:tcPr marL="54864" marR="54864" marT="22860" marB="22860" anchor="ctr">
                    <a:lnL w="0">
                      <a:noFill/>
                    </a:lnL>
                    <a:lnR w="0">
                      <a:noFill/>
                    </a:lnR>
                    <a:lnT w="0">
                      <a:noFill/>
                    </a:lnT>
                    <a:lnB w="6350">
                      <a:solidFill>
                        <a:srgbClr val="D9D9D9"/>
                      </a:solidFill>
                    </a:lnB>
                    <a:solidFill>
                      <a:srgbClr val="FFFFFF"/>
                    </a:solidFill>
                  </a:tcPr>
                </a:tc>
              </a:tr>
              <a:tr h="521207">
                <a:tc>
                  <a:txBody>
                    <a:bodyPr/>
                    <a:lstStyle/>
                    <a:p>
                      <a:r>
                        <a:rPr sz="950" b="1" i="0">
                          <a:solidFill>
                            <a:srgbClr val="1F1F1F"/>
                          </a:solidFill>
                        </a:rPr>
                        <a:t>Sales see digital as a threat</a:t>
                      </a:r>
                    </a:p>
                  </a:txBody>
                  <a:tcPr marL="54864" marR="54864" marT="22860" marB="22860" anchor="ctr">
                    <a:lnL w="0">
                      <a:noFill/>
                    </a:lnL>
                    <a:lnR w="0">
                      <a:noFill/>
                    </a:lnR>
                    <a:lnT w="0">
                      <a:noFill/>
                    </a:lnT>
                    <a:lnB w="6350">
                      <a:solidFill>
                        <a:srgbClr val="D9D9D9"/>
                      </a:solidFill>
                    </a:lnB>
                    <a:solidFill>
                      <a:srgbClr val="FFFFFF"/>
                    </a:solidFill>
                  </a:tcPr>
                </a:tc>
                <a:tc>
                  <a:txBody>
                    <a:bodyPr/>
                    <a:lstStyle/>
                    <a:p>
                      <a:r>
                        <a:rPr sz="950" b="0" i="0">
                          <a:solidFill>
                            <a:srgbClr val="1F1F1F"/>
                          </a:solidFill>
                        </a:rPr>
                        <a:t>Send them the Hot, high-value leads, with reasons</a:t>
                      </a:r>
                    </a:p>
                  </a:txBody>
                  <a:tcPr marL="54864" marR="54864" marT="22860" marB="22860" anchor="ctr">
                    <a:lnL w="0">
                      <a:noFill/>
                    </a:lnL>
                    <a:lnR w="0">
                      <a:noFill/>
                    </a:lnR>
                    <a:lnT w="0">
                      <a:noFill/>
                    </a:lnT>
                    <a:lnB w="6350">
                      <a:solidFill>
                        <a:srgbClr val="D9D9D9"/>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